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85" r:id="rId4"/>
    <p:sldId id="286" r:id="rId5"/>
    <p:sldId id="292" r:id="rId6"/>
    <p:sldId id="289" r:id="rId7"/>
    <p:sldId id="291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300" r:id="rId16"/>
    <p:sldId id="301" r:id="rId17"/>
    <p:sldId id="302" r:id="rId18"/>
    <p:sldId id="266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anxian zheng" initials="dz" lastIdx="1" clrIdx="0">
    <p:extLst>
      <p:ext uri="{19B8F6BF-5375-455C-9EA6-DF929625EA0E}">
        <p15:presenceInfo xmlns:p15="http://schemas.microsoft.com/office/powerpoint/2012/main" userId="54461ce54e7ef12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E51"/>
    <a:srgbClr val="CB3539"/>
    <a:srgbClr val="AB2F2F"/>
    <a:srgbClr val="E06D6A"/>
    <a:srgbClr val="C13535"/>
    <a:srgbClr val="B21E2F"/>
    <a:srgbClr val="E04C3C"/>
    <a:srgbClr val="E50012"/>
    <a:srgbClr val="D84743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2" d="100"/>
          <a:sy n="72" d="100"/>
        </p:scale>
        <p:origin x="192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474FDA-3ACD-473B-8B00-77871494B2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36A7A38-76A3-45CF-AA19-69A068BC60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EE0EE9D-9CDD-4BA5-9276-1F57E1D870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AAE095-9969-49A9-AA05-C167C93DEC54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3E069C7-5405-43AB-86F2-AA327EEF2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AD8D51-1F45-4033-9A67-6DEEB2828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0A19C4-3086-4FA5-98C2-98388FAF5ED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CAFD909-B49C-4F0A-8C89-0A22DFF9EAD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872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297A64B8-6EEC-46C1-9CDA-F4DAEAA16A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06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05BEB8-BB4E-4BB7-B6D0-E1D5AF6A1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9ABB50-913D-4E27-BF9D-14066AAED0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704129-084D-4967-B589-011C3B3A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0AAE095-9969-49A9-AA05-C167C93DEC54}" type="datetimeFigureOut">
              <a:rPr lang="zh-CN" altLang="en-US" smtClean="0"/>
              <a:t>2026/9/8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66BB94-497B-4480-A53A-858D2D579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201B42-DA26-4ACB-8E89-103F569F9D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A0A19C4-3086-4FA5-98C2-98388FAF5ED2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3F8EE18F-6F38-443D-919D-BD100AEF0D0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4F7D9AB-329E-453D-8B9C-D963369A894C}"/>
              </a:ext>
            </a:extLst>
          </p:cNvPr>
          <p:cNvSpPr/>
          <p:nvPr userDrawn="1"/>
        </p:nvSpPr>
        <p:spPr>
          <a:xfrm>
            <a:off x="0" y="377825"/>
            <a:ext cx="266700" cy="341402"/>
          </a:xfrm>
          <a:prstGeom prst="rect">
            <a:avLst/>
          </a:prstGeom>
          <a:solidFill>
            <a:srgbClr val="E4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4001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2719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5417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76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24F8B40-1EAC-434B-BCCA-210B23FA86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AAE93E-90E3-4B57-AA14-5CE0D387B7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27" name="内容占位符 26">
            <a:extLst>
              <a:ext uri="{FF2B5EF4-FFF2-40B4-BE49-F238E27FC236}">
                <a16:creationId xmlns:a16="http://schemas.microsoft.com/office/drawing/2014/main" id="{C4CC267F-9E25-42E7-9E83-10DDC63292B3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01525" cy="6864350"/>
          </a:xfrm>
          <a:prstGeom prst="rect">
            <a:avLst/>
          </a:prstGeom>
        </p:spPr>
      </p:pic>
      <p:grpSp>
        <p:nvGrpSpPr>
          <p:cNvPr id="18" name="组合 17">
            <a:extLst>
              <a:ext uri="{FF2B5EF4-FFF2-40B4-BE49-F238E27FC236}">
                <a16:creationId xmlns:a16="http://schemas.microsoft.com/office/drawing/2014/main" id="{005DC50D-AF18-46BA-9D74-A95F77B06549}"/>
              </a:ext>
            </a:extLst>
          </p:cNvPr>
          <p:cNvGrpSpPr/>
          <p:nvPr/>
        </p:nvGrpSpPr>
        <p:grpSpPr>
          <a:xfrm>
            <a:off x="469234" y="2230828"/>
            <a:ext cx="7961061" cy="4240326"/>
            <a:chOff x="469234" y="2286291"/>
            <a:chExt cx="6687744" cy="3562116"/>
          </a:xfrm>
        </p:grpSpPr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84A8456B-A874-4BD1-8270-48C1919FA4B7}"/>
                </a:ext>
              </a:extLst>
            </p:cNvPr>
            <p:cNvSpPr txBox="1"/>
            <p:nvPr/>
          </p:nvSpPr>
          <p:spPr>
            <a:xfrm>
              <a:off x="469234" y="2286291"/>
              <a:ext cx="6667130" cy="6463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2026</a:t>
              </a:r>
              <a:r>
                <a: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年度 </a:t>
              </a:r>
              <a:r>
                <a:rPr lang="zh-CN" altLang="en-US" sz="4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金码奖 </a:t>
              </a:r>
              <a:r>
                <a: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申报陈述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CD93C87F-D2F9-423F-9C40-E0BD9574CC77}"/>
                </a:ext>
              </a:extLst>
            </p:cNvPr>
            <p:cNvSpPr txBox="1"/>
            <p:nvPr/>
          </p:nvSpPr>
          <p:spPr>
            <a:xfrm>
              <a:off x="489848" y="2987005"/>
              <a:ext cx="6667130" cy="4395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主题：</a:t>
              </a:r>
              <a:r>
                <a:rPr lang="en-US" altLang="zh-CN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CLIProxyAPI 企业级 AI 网关建设</a:t>
              </a:r>
              <a:endPara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9BF8321F-1572-4E24-9052-323FAFA8F766}"/>
                </a:ext>
              </a:extLst>
            </p:cNvPr>
            <p:cNvSpPr txBox="1"/>
            <p:nvPr/>
          </p:nvSpPr>
          <p:spPr>
            <a:xfrm>
              <a:off x="518639" y="3601844"/>
              <a:ext cx="6045693" cy="2585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申报人：</a:t>
              </a:r>
              <a:r>
                <a:rPr lang="en-US" altLang="zh-CN" sz="14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吴强辉</a:t>
              </a:r>
              <a:endParaRPr lang="zh-CN" altLang="en-US" sz="1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F5391DCF-417A-46DA-B2BA-3BACAE696F06}"/>
                </a:ext>
              </a:extLst>
            </p:cNvPr>
            <p:cNvSpPr txBox="1"/>
            <p:nvPr/>
          </p:nvSpPr>
          <p:spPr>
            <a:xfrm>
              <a:off x="562814" y="5600468"/>
              <a:ext cx="2066660" cy="2479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www.szkingdom.com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EBACB86-D64E-47EF-B7AE-5145E1FA0EB9}"/>
                </a:ext>
              </a:extLst>
            </p:cNvPr>
            <p:cNvSpPr txBox="1"/>
            <p:nvPr/>
          </p:nvSpPr>
          <p:spPr>
            <a:xfrm>
              <a:off x="562814" y="5338227"/>
              <a:ext cx="4049111" cy="304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6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科技赋能金融 数字创造价值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927996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76">
            <a:extLst>
              <a:ext uri="{FF2B5EF4-FFF2-40B4-BE49-F238E27FC236}">
                <a16:creationId xmlns:a16="http://schemas.microsoft.com/office/drawing/2014/main" id="{54FEF2AD-D0DC-4821-A844-6FD2A42F652C}"/>
              </a:ext>
            </a:extLst>
          </p:cNvPr>
          <p:cNvSpPr txBox="1"/>
          <p:nvPr/>
        </p:nvSpPr>
        <p:spPr>
          <a:xfrm>
            <a:off x="3198009" y="2417870"/>
            <a:ext cx="3683737" cy="369332"/>
          </a:xfrm>
          <a:prstGeom prst="rect">
            <a:avLst/>
          </a:prstGeom>
          <a:noFill/>
        </p:spPr>
        <p:txBody>
          <a:bodyPr wrap="square" lIns="73152" tIns="36576" rIns="73152" bIns="36576" rtlCol="0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Microsoft YaHei"/>
              </a:rPr>
              <a:t>个人概况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896E95-9A8E-40A0-A8B9-AC9425D10B6B}"/>
              </a:ext>
            </a:extLst>
          </p:cNvPr>
          <p:cNvSpPr txBox="1"/>
          <p:nvPr/>
        </p:nvSpPr>
        <p:spPr>
          <a:xfrm>
            <a:off x="455109" y="289461"/>
            <a:ext cx="21162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/>
            <a:r>
              <a:rPr lang="zh-CN" altLang="en-US" sz="2800" b="1" dirty="0">
                <a:solidFill>
                  <a:srgbClr val="E40011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r>
              <a:rPr lang="zh-CN" altLang="en-US" sz="2800" b="1" dirty="0">
                <a:solidFill>
                  <a:srgbClr val="DA251C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altLang="zh-CN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charset="-122"/>
                <a:ea typeface="微软雅黑" panose="020B0503020204020204" charset="-122"/>
              </a:rPr>
              <a:t>CONTENT</a:t>
            </a:r>
            <a:endParaRPr lang="zh-CN" altLang="en-US" sz="2800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9122EB9-22E6-47E4-A515-A255FA5E6C8D}"/>
              </a:ext>
            </a:extLst>
          </p:cNvPr>
          <p:cNvSpPr/>
          <p:nvPr/>
        </p:nvSpPr>
        <p:spPr>
          <a:xfrm>
            <a:off x="2345186" y="2255409"/>
            <a:ext cx="691614" cy="691614"/>
          </a:xfrm>
          <a:prstGeom prst="rect">
            <a:avLst/>
          </a:prstGeom>
          <a:solidFill>
            <a:srgbClr val="E4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40011"/>
              </a:solidFill>
            </a:endParaRPr>
          </a:p>
        </p:txBody>
      </p:sp>
      <p:sp>
        <p:nvSpPr>
          <p:cNvPr id="16" name="TextBox 32">
            <a:extLst>
              <a:ext uri="{FF2B5EF4-FFF2-40B4-BE49-F238E27FC236}">
                <a16:creationId xmlns:a16="http://schemas.microsoft.com/office/drawing/2014/main" id="{500154FB-68BA-4A35-A02F-603E7E9405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8121" y="2312559"/>
            <a:ext cx="7798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ea typeface="微软雅黑" panose="020B0503020204020204" charset="-122"/>
              </a:rPr>
              <a:t>01</a:t>
            </a:r>
          </a:p>
        </p:txBody>
      </p:sp>
      <p:sp>
        <p:nvSpPr>
          <p:cNvPr id="30" name="TextBox 76">
            <a:extLst>
              <a:ext uri="{FF2B5EF4-FFF2-40B4-BE49-F238E27FC236}">
                <a16:creationId xmlns:a16="http://schemas.microsoft.com/office/drawing/2014/main" id="{BD68FA33-BF40-41A8-BA88-8C85CDBF35BD}"/>
              </a:ext>
            </a:extLst>
          </p:cNvPr>
          <p:cNvSpPr txBox="1"/>
          <p:nvPr/>
        </p:nvSpPr>
        <p:spPr>
          <a:xfrm>
            <a:off x="7511390" y="2398372"/>
            <a:ext cx="3683737" cy="369332"/>
          </a:xfrm>
          <a:prstGeom prst="rect">
            <a:avLst/>
          </a:prstGeom>
          <a:noFill/>
        </p:spPr>
        <p:txBody>
          <a:bodyPr wrap="square" lIns="73152" tIns="36576" rIns="73152" bIns="36576" rtlCol="0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Microsoft YaHei"/>
              </a:rPr>
              <a:t>申报亮点</a:t>
            </a:r>
            <a:endParaRPr lang="zh-CN" altLang="en-US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2AA5FEF-A733-4942-9721-763C4DB2067A}"/>
              </a:ext>
            </a:extLst>
          </p:cNvPr>
          <p:cNvSpPr/>
          <p:nvPr/>
        </p:nvSpPr>
        <p:spPr>
          <a:xfrm>
            <a:off x="6658568" y="2260756"/>
            <a:ext cx="691614" cy="691614"/>
          </a:xfrm>
          <a:prstGeom prst="rect">
            <a:avLst/>
          </a:prstGeom>
          <a:solidFill>
            <a:srgbClr val="E4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40011"/>
              </a:solidFill>
            </a:endParaRPr>
          </a:p>
        </p:txBody>
      </p:sp>
      <p:sp>
        <p:nvSpPr>
          <p:cNvPr id="32" name="TextBox 32">
            <a:extLst>
              <a:ext uri="{FF2B5EF4-FFF2-40B4-BE49-F238E27FC236}">
                <a16:creationId xmlns:a16="http://schemas.microsoft.com/office/drawing/2014/main" id="{A28F13BC-5A26-4607-AE90-24464C4B28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503" y="2317906"/>
            <a:ext cx="7798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ea typeface="微软雅黑" panose="020B0503020204020204" charset="-122"/>
              </a:rPr>
              <a:t>02</a:t>
            </a:r>
          </a:p>
        </p:txBody>
      </p:sp>
      <p:sp>
        <p:nvSpPr>
          <p:cNvPr id="34" name="TextBox 76">
            <a:extLst>
              <a:ext uri="{FF2B5EF4-FFF2-40B4-BE49-F238E27FC236}">
                <a16:creationId xmlns:a16="http://schemas.microsoft.com/office/drawing/2014/main" id="{21196FB2-B0FC-4024-9B17-484D992A1A66}"/>
              </a:ext>
            </a:extLst>
          </p:cNvPr>
          <p:cNvSpPr txBox="1"/>
          <p:nvPr/>
        </p:nvSpPr>
        <p:spPr>
          <a:xfrm>
            <a:off x="3205283" y="3543811"/>
            <a:ext cx="3683737" cy="584775"/>
          </a:xfrm>
          <a:prstGeom prst="rect">
            <a:avLst/>
          </a:prstGeom>
          <a:noFill/>
        </p:spPr>
        <p:txBody>
          <a:bodyPr wrap="square" lIns="73152" tIns="36576" rIns="73152" bIns="36576" rtlCol="0">
            <a:spAutoFit/>
          </a:bodyPr>
          <a:lstStyle/>
          <a:p>
            <a:pPr algn="l"/>
            <a:r>
              <a:rPr sz="1900" b="1" i="0">
                <a:solidFill>
                  <a:srgbClr val="222222"/>
                </a:solidFill>
                <a:latin typeface="Microsoft YaHei"/>
              </a:rPr>
              <a:t>AI 贡献点</a:t>
            </a:r>
            <a:endParaRPr lang="en-US" altLang="zh-CN" sz="1800" b="1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BA0F7FD6-3061-400B-BA24-34AA0BF02801}"/>
              </a:ext>
            </a:extLst>
          </p:cNvPr>
          <p:cNvSpPr/>
          <p:nvPr/>
        </p:nvSpPr>
        <p:spPr>
          <a:xfrm>
            <a:off x="2352459" y="3382670"/>
            <a:ext cx="691614" cy="691614"/>
          </a:xfrm>
          <a:prstGeom prst="rect">
            <a:avLst/>
          </a:prstGeom>
          <a:solidFill>
            <a:srgbClr val="E4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40011"/>
              </a:solidFill>
            </a:endParaRPr>
          </a:p>
        </p:txBody>
      </p:sp>
      <p:sp>
        <p:nvSpPr>
          <p:cNvPr id="36" name="TextBox 32">
            <a:extLst>
              <a:ext uri="{FF2B5EF4-FFF2-40B4-BE49-F238E27FC236}">
                <a16:creationId xmlns:a16="http://schemas.microsoft.com/office/drawing/2014/main" id="{178AD962-C4B7-40A5-92F8-E16BD5ED7E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25394" y="3439820"/>
            <a:ext cx="7798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ea typeface="微软雅黑" panose="020B0503020204020204" charset="-122"/>
              </a:rPr>
              <a:t>03</a:t>
            </a:r>
          </a:p>
        </p:txBody>
      </p:sp>
      <p:sp>
        <p:nvSpPr>
          <p:cNvPr id="15" name="TextBox 76">
            <a:extLst>
              <a:ext uri="{FF2B5EF4-FFF2-40B4-BE49-F238E27FC236}">
                <a16:creationId xmlns:a16="http://schemas.microsoft.com/office/drawing/2014/main" id="{37AA7CF3-C445-4552-B2E9-4A72FB6E4FA1}"/>
              </a:ext>
            </a:extLst>
          </p:cNvPr>
          <p:cNvSpPr txBox="1"/>
          <p:nvPr/>
        </p:nvSpPr>
        <p:spPr>
          <a:xfrm>
            <a:off x="7511390" y="3600961"/>
            <a:ext cx="3683737" cy="369332"/>
          </a:xfrm>
          <a:prstGeom prst="rect">
            <a:avLst/>
          </a:prstGeom>
          <a:noFill/>
        </p:spPr>
        <p:txBody>
          <a:bodyPr wrap="square" lIns="73152" tIns="36576" rIns="73152" bIns="36576" rtlCol="0">
            <a:spAutoFit/>
          </a:bodyPr>
          <a:lstStyle/>
          <a:p>
            <a:pPr algn="l"/>
            <a:r>
              <a:rPr sz="2000" b="1" i="0">
                <a:solidFill>
                  <a:srgbClr val="222222"/>
                </a:solidFill>
                <a:latin typeface="Microsoft YaHei"/>
              </a:rPr>
              <a:t>总结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C38C3F5-DFA4-436A-9223-48F8899DA68A}"/>
              </a:ext>
            </a:extLst>
          </p:cNvPr>
          <p:cNvSpPr/>
          <p:nvPr/>
        </p:nvSpPr>
        <p:spPr>
          <a:xfrm>
            <a:off x="6658566" y="3439820"/>
            <a:ext cx="691614" cy="691614"/>
          </a:xfrm>
          <a:prstGeom prst="rect">
            <a:avLst/>
          </a:prstGeom>
          <a:solidFill>
            <a:srgbClr val="E4001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E40011"/>
              </a:solidFill>
            </a:endParaRPr>
          </a:p>
        </p:txBody>
      </p:sp>
      <p:sp>
        <p:nvSpPr>
          <p:cNvPr id="19" name="TextBox 32">
            <a:extLst>
              <a:ext uri="{FF2B5EF4-FFF2-40B4-BE49-F238E27FC236}">
                <a16:creationId xmlns:a16="http://schemas.microsoft.com/office/drawing/2014/main" id="{8FF04122-FC7B-40E3-A864-17AF947003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501" y="3496970"/>
            <a:ext cx="77988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dirty="0">
                <a:solidFill>
                  <a:schemeClr val="bg1"/>
                </a:solidFill>
                <a:ea typeface="微软雅黑" panose="020B0503020204020204" charset="-122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4397930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自我介绍</a:t>
            </a:r>
          </a:p>
        </p:txBody>
      </p:sp>
      <p:sp>
        <p:nvSpPr>
          <p:cNvPr id="3" name="Right Arrow 2"/>
          <p:cNvSpPr/>
          <p:nvPr/>
        </p:nvSpPr>
        <p:spPr>
          <a:xfrm>
            <a:off x="1051560" y="1444752"/>
            <a:ext cx="164592" cy="146304"/>
          </a:xfrm>
          <a:prstGeom prst="rightArrow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53312" y="1353312"/>
            <a:ext cx="1298448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Microsoft YaHei"/>
              </a:rPr>
              <a:t>姓名：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15184" y="1353312"/>
            <a:ext cx="3977639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Microsoft YaHei"/>
              </a:rPr>
              <a:t>吴强辉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051560" y="2066544"/>
            <a:ext cx="164592" cy="146304"/>
          </a:xfrm>
          <a:prstGeom prst="rightArrow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53312" y="1975104"/>
            <a:ext cx="1298448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Microsoft YaHei"/>
              </a:rPr>
              <a:t>所在部门：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15184" y="1975104"/>
            <a:ext cx="3977639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Microsoft YaHei"/>
              </a:rPr>
              <a:t>研发中心四部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051560" y="2688336"/>
            <a:ext cx="164592" cy="146304"/>
          </a:xfrm>
          <a:prstGeom prst="rightArrow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353312" y="2596896"/>
            <a:ext cx="1298448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Microsoft YaHei"/>
              </a:rPr>
              <a:t>当前职级：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15184" y="2596896"/>
            <a:ext cx="3977639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Microsoft YaHei"/>
              </a:rPr>
              <a:t>P2｜C++开发工程师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51560" y="3310128"/>
            <a:ext cx="164592" cy="146304"/>
          </a:xfrm>
          <a:prstGeom prst="rightArrow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53312" y="3218688"/>
            <a:ext cx="1298448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Microsoft YaHei"/>
              </a:rPr>
              <a:t>所属模块：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3218688"/>
            <a:ext cx="3977639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Microsoft YaHei"/>
              </a:rPr>
              <a:t>CLIProxyAPI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1051560" y="3931920"/>
            <a:ext cx="164592" cy="146304"/>
          </a:xfrm>
          <a:prstGeom prst="rightArrow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53312" y="3840480"/>
            <a:ext cx="1298448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Microsoft YaHei"/>
              </a:rPr>
              <a:t>代码仓库：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3840480"/>
            <a:ext cx="3977639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50" b="0" i="0">
                <a:solidFill>
                  <a:srgbClr val="222222"/>
                </a:solidFill>
                <a:latin typeface="Microsoft YaHei"/>
              </a:rPr>
              <a:t>https://github.com/13210541230/CLIProxyAPI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1051560" y="4553712"/>
            <a:ext cx="164592" cy="146304"/>
          </a:xfrm>
          <a:prstGeom prst="rightArrow">
            <a:avLst/>
          </a:prstGeom>
          <a:solidFill>
            <a:srgbClr val="222222"/>
          </a:solidFill>
          <a:ln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353312" y="4462272"/>
            <a:ext cx="1298448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800" b="1" i="0">
                <a:solidFill>
                  <a:srgbClr val="222222"/>
                </a:solidFill>
                <a:latin typeface="Microsoft YaHei"/>
              </a:rPr>
              <a:t>交付状态：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5184" y="4462272"/>
            <a:ext cx="3977639" cy="36576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800" b="0" i="0">
                <a:solidFill>
                  <a:srgbClr val="222222"/>
                </a:solidFill>
                <a:latin typeface="Microsoft YaHei"/>
              </a:rPr>
              <a:t>已推广使用</a:t>
            </a:r>
          </a:p>
        </p:txBody>
      </p:sp>
      <p:pic>
        <p:nvPicPr>
          <p:cNvPr id="21" name="Picture 20" descr="profile-wuq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1188720"/>
            <a:ext cx="3456432" cy="420624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7242048" y="1188720"/>
            <a:ext cx="3456432" cy="4206240"/>
          </a:xfrm>
          <a:prstGeom prst="rect">
            <a:avLst/>
          </a:prstGeom>
          <a:noFill/>
          <a:ln w="12700">
            <a:solidFill>
              <a:srgbClr val="2222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931194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申报亮点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749808" y="1481328"/>
            <a:ext cx="5152644" cy="162763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01｜API Key 统一管理</a:t>
            </a:r>
          </a:p>
          <a:p>
            <a:pPr>
              <a:spcAft>
                <a:spcPts val="0"/>
              </a:spcAft>
            </a:pPr>
            <a:r>
              <a:rPr sz="1160" b="0" i="0">
                <a:solidFill>
                  <a:srgbClr val="222222"/>
                </a:solidFill>
                <a:latin typeface="Microsoft YaHei"/>
              </a:rPr>
              <a:t>支持批量导入、CSV 预览、人员与部门绑定、历史查询和脱敏展示，明确凭证归属并保留可追溯记录。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6286500" y="1481328"/>
            <a:ext cx="5152644" cy="1627632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667B1"/>
                </a:solidFill>
                <a:latin typeface="Microsoft YaHei"/>
              </a:rPr>
              <a:t>02｜用量分析与统计</a:t>
            </a:r>
          </a:p>
          <a:p>
            <a:pPr>
              <a:spcAft>
                <a:spcPts val="0"/>
              </a:spcAft>
            </a:pPr>
            <a:r>
              <a:rPr sz="1160" b="0" i="0">
                <a:solidFill>
                  <a:srgbClr val="222222"/>
                </a:solidFill>
                <a:latin typeface="Microsoft YaHei"/>
              </a:rPr>
              <a:t>采集请求、Token 与费用数据，按模型、部门、Key 等维度提供趋势、排行和明细查询，为资源配置与使用评估提供依据。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3657600"/>
            <a:ext cx="5152644" cy="162763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03｜认证登录与额度查看</a:t>
            </a:r>
          </a:p>
          <a:p>
            <a:pPr>
              <a:spcAft>
                <a:spcPts val="0"/>
              </a:spcAft>
            </a:pPr>
            <a:r>
              <a:rPr sz="1160" b="0" i="0">
                <a:solidFill>
                  <a:srgbClr val="222222"/>
                </a:solidFill>
                <a:latin typeface="Microsoft YaHei"/>
              </a:rPr>
              <a:t>支持账号认证登录，集中查看认证状态、可用额度与使用情况，减少重复配置，便于及时掌握 AI 使用状态。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6286500" y="3657600"/>
            <a:ext cx="5152644" cy="1627632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667B1"/>
                </a:solidFill>
                <a:latin typeface="Microsoft YaHei"/>
              </a:rPr>
              <a:t>04｜风险请求标记与人工审计</a:t>
            </a:r>
          </a:p>
          <a:p>
            <a:pPr>
              <a:spcAft>
                <a:spcPts val="0"/>
              </a:spcAft>
            </a:pPr>
            <a:r>
              <a:rPr sz="1160" b="0" i="0">
                <a:solidFill>
                  <a:srgbClr val="222222"/>
                </a:solidFill>
                <a:latin typeface="Microsoft YaHei"/>
              </a:rPr>
              <a:t>对命中 cyber_policy 的风险请求进行标记，支持人工查看脱敏后的用户请求内容并开展复核，降低公司账号资产损失风险。</a:t>
            </a:r>
          </a:p>
        </p:txBody>
      </p:sp>
    </p:spTree>
    <p:extLst>
      <p:ext uri="{BB962C8B-B14F-4D97-AF65-F5344CB8AC3E}">
        <p14:creationId xmlns:p14="http://schemas.microsoft.com/office/powerpoint/2010/main" val="1028637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需求背景（一）｜企业进入规模化 AI 使用阶段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员工、模型和业务场景持续增加，接入、费用、安全与审计需要统一管理。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353312"/>
            <a:ext cx="251460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00" b="1" i="0">
                <a:solidFill>
                  <a:srgbClr val="666666"/>
                </a:solidFill>
                <a:latin typeface="Microsoft YaHei"/>
              </a:rPr>
              <a:t>使用规模的变化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719072"/>
            <a:ext cx="2514600" cy="658368"/>
          </a:xfrm>
          <a:prstGeom prst="roundRect">
            <a:avLst/>
          </a:prstGeom>
          <a:solidFill>
            <a:srgbClr val="FFF0F1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员工使用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441448"/>
            <a:ext cx="2395728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980" b="0" i="0">
                <a:solidFill>
                  <a:srgbClr val="666666"/>
                </a:solidFill>
                <a:latin typeface="Microsoft YaHei"/>
              </a:rPr>
              <a:t>由个人试用扩展至日常业务场景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" y="2779776"/>
            <a:ext cx="2514600" cy="658368"/>
          </a:xfrm>
          <a:prstGeom prst="roundRect">
            <a:avLst/>
          </a:prstGeom>
          <a:solidFill>
            <a:srgbClr val="EEF6FC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模型和场景扩展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502152"/>
            <a:ext cx="2395728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980" b="0" i="0">
                <a:solidFill>
                  <a:srgbClr val="666666"/>
                </a:solidFill>
                <a:latin typeface="Microsoft YaHei"/>
              </a:rPr>
              <a:t>跨部门、多场景并行使用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840479"/>
            <a:ext cx="2514600" cy="658368"/>
          </a:xfrm>
          <a:prstGeom prst="roundRect">
            <a:avLst/>
          </a:prstGeom>
          <a:solidFill>
            <a:srgbClr val="FFF0F1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企业统一治理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" y="4562855"/>
            <a:ext cx="2395728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980" b="0" i="0">
                <a:solidFill>
                  <a:srgbClr val="666666"/>
                </a:solidFill>
                <a:latin typeface="Microsoft YaHei"/>
              </a:rPr>
              <a:t>统一管理身份、额度、用量及安全审计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5102352"/>
            <a:ext cx="2514600" cy="53035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50" b="1" i="0">
                <a:solidFill>
                  <a:srgbClr val="222222"/>
                </a:solidFill>
                <a:latin typeface="Microsoft YaHei"/>
              </a:rPr>
              <a:t>规模扩大后，分散管理将增加配置成本、费用失控和安全审计风险。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03320" y="1572768"/>
            <a:ext cx="3493008" cy="157276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ED0016"/>
                </a:solidFill>
                <a:latin typeface="Microsoft YaHei"/>
              </a:rPr>
              <a:t>接入方式不统一</a:t>
            </a:r>
          </a:p>
          <a:p>
            <a:pPr>
              <a:spcAft>
                <a:spcPts val="0"/>
              </a:spcAft>
            </a:pPr>
            <a:r>
              <a:rPr sz="1120" b="0" i="0">
                <a:solidFill>
                  <a:srgbClr val="222222"/>
                </a:solidFill>
                <a:latin typeface="Microsoft YaHei"/>
              </a:rPr>
              <a:t>不同模型、不同接口并存，配置由各方维护，入口分散。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9520" y="1572768"/>
            <a:ext cx="3493008" cy="1572768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0667B1"/>
                </a:solidFill>
                <a:latin typeface="Microsoft YaHei"/>
              </a:rPr>
              <a:t>使用人数和场景增加</a:t>
            </a:r>
          </a:p>
          <a:p>
            <a:pPr>
              <a:spcAft>
                <a:spcPts val="0"/>
              </a:spcAft>
            </a:pPr>
            <a:r>
              <a:rPr sz="1120" b="0" i="0">
                <a:solidFill>
                  <a:srgbClr val="222222"/>
                </a:solidFill>
                <a:latin typeface="Microsoft YaHei"/>
              </a:rPr>
              <a:t>跨部门、跨项目使用，Key 与使用者缺少明确关联。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03320" y="3511296"/>
            <a:ext cx="3493008" cy="157276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ED0016"/>
                </a:solidFill>
                <a:latin typeface="Microsoft YaHei"/>
              </a:rPr>
              <a:t>费用逐渐增加</a:t>
            </a:r>
          </a:p>
          <a:p>
            <a:pPr>
              <a:spcAft>
                <a:spcPts val="0"/>
              </a:spcAft>
            </a:pPr>
            <a:r>
              <a:rPr sz="1120" b="0" i="0">
                <a:solidFill>
                  <a:srgbClr val="222222"/>
                </a:solidFill>
                <a:latin typeface="Microsoft YaHei"/>
              </a:rPr>
              <a:t>Token 和费用缺少统一统计，超支与浪费难以及时识别。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589520" y="3511296"/>
            <a:ext cx="3493008" cy="1572768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0667B1"/>
                </a:solidFill>
                <a:latin typeface="Microsoft YaHei"/>
              </a:rPr>
              <a:t>安全要求更高</a:t>
            </a:r>
          </a:p>
          <a:p>
            <a:pPr>
              <a:spcAft>
                <a:spcPts val="0"/>
              </a:spcAft>
            </a:pPr>
            <a:r>
              <a:rPr sz="1120" b="0" i="0">
                <a:solidFill>
                  <a:srgbClr val="222222"/>
                </a:solidFill>
                <a:latin typeface="Microsoft YaHei"/>
              </a:rPr>
              <a:t>凭证保护、使用记录和审计要求日益明确。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79" y="5468112"/>
            <a:ext cx="3337560" cy="38404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400" b="1" i="0">
                <a:solidFill>
                  <a:srgbClr val="ED0016"/>
                </a:solidFill>
                <a:latin typeface="Microsoft YaHei"/>
              </a:rPr>
              <a:t>因此需要建设统一的接入与管理入口。</a:t>
            </a:r>
          </a:p>
        </p:txBody>
      </p:sp>
    </p:spTree>
    <p:extLst>
      <p:ext uri="{BB962C8B-B14F-4D97-AF65-F5344CB8AC3E}">
        <p14:creationId xmlns:p14="http://schemas.microsoft.com/office/powerpoint/2010/main" val="28317544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需求背景（二）｜企业 AI 使用中的四类管理问题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这些问题相互关联，直接影响使用安全、费用控制和责任追溯。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36192"/>
            <a:ext cx="4983480" cy="1554480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50" b="1" i="0">
                <a:solidFill>
                  <a:srgbClr val="ED0016"/>
                </a:solidFill>
                <a:latin typeface="Microsoft YaHei"/>
              </a:rPr>
              <a:t>Key 归属不清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Key 分散保存，缺少明确归属。
影响：问题发生后难以明确责任人。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536192"/>
            <a:ext cx="4983480" cy="1554480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50" b="1" i="0">
                <a:solidFill>
                  <a:srgbClr val="0667B1"/>
                </a:solidFill>
                <a:latin typeface="Microsoft YaHei"/>
              </a:rPr>
              <a:t>额度控制不足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缺少统一的额度和费用规则。
影响：增加资源浪费与费用超支风险。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410711"/>
            <a:ext cx="4983480" cy="1554480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50" b="1" i="0">
                <a:solidFill>
                  <a:srgbClr val="ED0016"/>
                </a:solidFill>
                <a:latin typeface="Microsoft YaHei"/>
              </a:rPr>
              <a:t>用量统计不清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缺少模型、部门等维度的用量数据。
影响：资源配置与费用评估缺少依据。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3410711"/>
            <a:ext cx="4983480" cy="1554480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50" b="1" i="0">
                <a:solidFill>
                  <a:srgbClr val="0667B1"/>
                </a:solidFill>
                <a:latin typeface="Microsoft YaHei"/>
              </a:rPr>
              <a:t>风险不易发现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风险请求与普通请求混合记录。
影响：异常调用难以及时识别。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7" y="5285232"/>
            <a:ext cx="3886200" cy="548640"/>
          </a:xfrm>
          <a:prstGeom prst="roundRect">
            <a:avLst/>
          </a:prstGeom>
          <a:solidFill>
            <a:srgbClr val="ED0016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统一平台集中治理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5961888"/>
            <a:ext cx="1014984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从身份、额度、用量到风险，形成统一管理、查询和追溯链路。</a:t>
            </a:r>
          </a:p>
        </p:txBody>
      </p:sp>
    </p:spTree>
    <p:extLst>
      <p:ext uri="{BB962C8B-B14F-4D97-AF65-F5344CB8AC3E}">
        <p14:creationId xmlns:p14="http://schemas.microsoft.com/office/powerpoint/2010/main" val="3876077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总体架构｜统一接入、统一管理、统一审计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8" y="1508760"/>
            <a:ext cx="1691640" cy="65836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222222"/>
                </a:solidFill>
                <a:latin typeface="Microsoft YaHei"/>
              </a:rPr>
              <a:t>客户端 / 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88920" y="1508760"/>
            <a:ext cx="1874519" cy="658368"/>
          </a:xfrm>
          <a:prstGeom prst="roundRect">
            <a:avLst/>
          </a:prstGeom>
          <a:solidFill>
            <a:srgbClr val="ED0016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CLIProxyAPI
统一接入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1508760"/>
            <a:ext cx="2057400" cy="658368"/>
          </a:xfrm>
          <a:prstGeom prst="roundRect">
            <a:avLst/>
          </a:prstGeom>
          <a:solidFill>
            <a:srgbClr val="0667B1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icrosoft YaHei"/>
              </a:rPr>
              <a:t>Management Center
统一管理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2743200"/>
            <a:ext cx="2057400" cy="65836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Usage Service
采集 · 统计 · 联动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508760"/>
            <a:ext cx="2011680" cy="65836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插件 / 审计
受控扩展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41448" y="1837943"/>
            <a:ext cx="347472" cy="0"/>
          </a:xfrm>
          <a:prstGeom prst="line">
            <a:avLst/>
          </a:prstGeom>
          <a:ln w="2286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663440" y="1837943"/>
            <a:ext cx="411480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108192" y="2167128"/>
            <a:ext cx="0" cy="576072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132320" y="1837943"/>
            <a:ext cx="502920" cy="0"/>
          </a:xfrm>
          <a:prstGeom prst="line">
            <a:avLst/>
          </a:prstGeom>
          <a:ln w="2286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49808" y="3977639"/>
            <a:ext cx="3282696" cy="1234440"/>
          </a:xfrm>
          <a:prstGeom prst="rect">
            <a:avLst/>
          </a:prstGeom>
          <a:solidFill>
            <a:srgbClr val="F5F7F9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接入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统一接入不同模型服务，提供一致的调用入口，减少重复配置。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53128" y="3977639"/>
            <a:ext cx="3282696" cy="1234440"/>
          </a:xfrm>
          <a:prstGeom prst="rect">
            <a:avLst/>
          </a:prstGeom>
          <a:solidFill>
            <a:srgbClr val="F5F7F9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667B1"/>
                </a:solidFill>
                <a:latin typeface="Microsoft YaHei"/>
              </a:rPr>
              <a:t>管理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集中管理 Key、额度和用量，记录处理结果，支持查询和恢复。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56448" y="3977639"/>
            <a:ext cx="3282696" cy="1234440"/>
          </a:xfrm>
          <a:prstGeom prst="rect">
            <a:avLst/>
          </a:prstGeom>
          <a:solidFill>
            <a:srgbClr val="F5F7F9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安全审查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检查插件来源、访问路径和可查看资源，保护凭证和请求记录。</a:t>
            </a:r>
          </a:p>
        </p:txBody>
      </p:sp>
    </p:spTree>
    <p:extLst>
      <p:ext uri="{BB962C8B-B14F-4D97-AF65-F5344CB8AC3E}">
        <p14:creationId xmlns:p14="http://schemas.microsoft.com/office/powerpoint/2010/main" val="3003283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贡献点一｜统一入口，减少重复配置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把不同模型的接入方式集中管理，员工使用同一个入口。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508760"/>
            <a:ext cx="4251960" cy="1783080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使用前｜分散配置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不同员工和系统分别配置模型，入口不统一，故障定位与责任追溯较为困难。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4032" y="1508760"/>
            <a:ext cx="4224528" cy="1783080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667B1"/>
                </a:solidFill>
                <a:latin typeface="Microsoft YaHei"/>
              </a:rPr>
              <a:t>建设后｜统一入口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提供统一的接入和配置入口，配置集中管理，调用通过统一代理和认证。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230368" y="2395728"/>
            <a:ext cx="1655064" cy="0"/>
          </a:xfrm>
          <a:prstGeom prst="line">
            <a:avLst/>
          </a:prstGeom>
          <a:ln w="2794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40096" y="1938528"/>
            <a:ext cx="1417320" cy="27432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150" b="1" i="0">
                <a:solidFill>
                  <a:srgbClr val="ED0016"/>
                </a:solidFill>
                <a:latin typeface="Microsoft YaHei"/>
              </a:rPr>
              <a:t>接入统一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822191"/>
            <a:ext cx="2523744" cy="65836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员工 / Agent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73551" y="4151376"/>
            <a:ext cx="201169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474720" y="3822191"/>
            <a:ext cx="2523744" cy="658368"/>
          </a:xfrm>
          <a:prstGeom prst="roundRect">
            <a:avLst/>
          </a:prstGeom>
          <a:solidFill>
            <a:srgbClr val="ED0016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CLIProxyAPI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98464" y="4151376"/>
            <a:ext cx="201167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199632" y="3822191"/>
            <a:ext cx="2523744" cy="65836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统一调用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23376" y="4151376"/>
            <a:ext cx="201168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924544" y="3822191"/>
            <a:ext cx="2523744" cy="65836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集中管理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4956048"/>
            <a:ext cx="10497312" cy="74980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ED0016"/>
                </a:solidFill>
                <a:latin typeface="Microsoft YaHei"/>
              </a:rPr>
              <a:t>建设效果</a:t>
            </a:r>
          </a:p>
          <a:p>
            <a:pPr>
              <a:spcAft>
                <a:spcPts val="0"/>
              </a:spcAft>
            </a:pPr>
            <a:r>
              <a:rPr sz="1120" b="0" i="0">
                <a:solidFill>
                  <a:srgbClr val="222222"/>
                </a:solidFill>
                <a:latin typeface="Microsoft YaHei"/>
              </a:rPr>
              <a:t>减少重复配置，降低维护成本，后续 Key、额度和用量统计也有统一入口。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贡献点二｜身份绑定，明确使用归属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把 Key 与使用人、部门和来源关联起来，方便查询和追溯。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1298448"/>
            <a:ext cx="2103120" cy="22860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50" b="1" i="0">
                <a:solidFill>
                  <a:srgbClr val="666666"/>
                </a:solidFill>
                <a:latin typeface="Microsoft YaHei"/>
              </a:rPr>
              <a:t>使用流程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1627632"/>
            <a:ext cx="2148840" cy="53035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批量导入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915668" y="2157984"/>
            <a:ext cx="0" cy="219456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41248" y="2377440"/>
            <a:ext cx="2148840" cy="530352"/>
          </a:xfrm>
          <a:prstGeom prst="roundRect">
            <a:avLst/>
          </a:prstGeom>
          <a:solidFill>
            <a:srgbClr val="ED0016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预览确认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15668" y="2907792"/>
            <a:ext cx="0" cy="219456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41248" y="3127248"/>
            <a:ext cx="2148840" cy="53035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绑定身份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915668" y="3657600"/>
            <a:ext cx="0" cy="219456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8" y="3877056"/>
            <a:ext cx="2148840" cy="53035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查询记录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481328"/>
            <a:ext cx="3703320" cy="199339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现状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Key 缺少明确归属，跨部门使用时难以定位责任人，问题发生后也难以追溯。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481328"/>
            <a:ext cx="3703320" cy="1993392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667B1"/>
                </a:solidFill>
                <a:latin typeface="Microsoft YaHei"/>
              </a:rPr>
              <a:t>实现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支持批量导入和 CSV 预览，把 Key 与人员、部门、来源和导入时间关联，并保留历史记录。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3840480"/>
            <a:ext cx="7726679" cy="129844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作用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查询用量或审计时，可以按人员和部门找到对应记录。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5376672"/>
            <a:ext cx="7726679" cy="3200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400" b="1" i="0">
                <a:solidFill>
                  <a:srgbClr val="222222"/>
                </a:solidFill>
                <a:latin typeface="Microsoft YaHei"/>
              </a:rPr>
              <a:t>建立 Key 与人员、部门的关联，为统计和审计提供依据。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贡献点三｜统一额度，避免超支和浪费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统一统计 Token 和费用，超过限额后按规则处理。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2926080" cy="409651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现状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费用缺少统一统计，超限后才处置，增加资源浪费和费用超支风险。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87952" y="1325880"/>
            <a:ext cx="694944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00" b="1" i="0">
                <a:solidFill>
                  <a:srgbClr val="666666"/>
                </a:solidFill>
                <a:latin typeface="Microsoft YaHei"/>
              </a:rPr>
              <a:t>额度判断路径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87952" y="1719072"/>
            <a:ext cx="2487168" cy="62179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默认限额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719072"/>
            <a:ext cx="2487168" cy="62179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 i="0">
                <a:solidFill>
                  <a:srgbClr val="222222"/>
                </a:solidFill>
                <a:latin typeface="Microsoft YaHei"/>
              </a:rPr>
              <a:t>Key 单独设置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31536" y="2340864"/>
            <a:ext cx="0" cy="146304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015984" y="2340864"/>
            <a:ext cx="0" cy="146304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431536" y="2487168"/>
            <a:ext cx="3584448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943600" y="2743200"/>
            <a:ext cx="2578608" cy="62179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20" b="1" i="0">
                <a:solidFill>
                  <a:srgbClr val="222222"/>
                </a:solidFill>
                <a:latin typeface="Microsoft YaHei"/>
              </a:rPr>
              <a:t>记录 Token / 费用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32904" y="2487168"/>
            <a:ext cx="0" cy="256032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43600" y="3749039"/>
            <a:ext cx="2578608" cy="621792"/>
          </a:xfrm>
          <a:prstGeom prst="roundRect">
            <a:avLst/>
          </a:prstGeom>
          <a:solidFill>
            <a:srgbClr val="ED0016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50" b="1" i="0">
                <a:solidFill>
                  <a:srgbClr val="FFFFFF"/>
                </a:solidFill>
                <a:latin typeface="Microsoft YaHei"/>
              </a:rPr>
              <a:t>超过限额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232904" y="3364992"/>
            <a:ext cx="0" cy="384047"/>
          </a:xfrm>
          <a:prstGeom prst="line">
            <a:avLst/>
          </a:prstGeom>
          <a:ln w="2286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187952" y="4590288"/>
            <a:ext cx="1920240" cy="56692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暂停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590288"/>
            <a:ext cx="1920240" cy="56692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降级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13648" y="4590288"/>
            <a:ext cx="1920240" cy="56692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告警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232904" y="4370832"/>
            <a:ext cx="0" cy="128016"/>
          </a:xfrm>
          <a:prstGeom prst="line">
            <a:avLst/>
          </a:prstGeom>
          <a:ln w="2286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48072" y="4498848"/>
            <a:ext cx="4425696" cy="0"/>
          </a:xfrm>
          <a:prstGeom prst="line">
            <a:avLst/>
          </a:prstGeom>
          <a:ln w="2286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5148072" y="4498848"/>
            <a:ext cx="0" cy="91440"/>
          </a:xfrm>
          <a:prstGeom prst="line">
            <a:avLst/>
          </a:prstGeom>
          <a:ln w="2286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360920" y="4498848"/>
            <a:ext cx="0" cy="9144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73768" y="4498848"/>
            <a:ext cx="0" cy="91440"/>
          </a:xfrm>
          <a:prstGeom prst="line">
            <a:avLst/>
          </a:prstGeom>
          <a:ln w="22860">
            <a:solidFill>
              <a:srgbClr val="ED001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4187952" y="5358384"/>
            <a:ext cx="6345936" cy="71323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250" b="1" i="0">
                <a:solidFill>
                  <a:srgbClr val="ED0016"/>
                </a:solidFill>
                <a:latin typeface="Microsoft YaHei"/>
              </a:rPr>
              <a:t>规则结果</a:t>
            </a:r>
          </a:p>
          <a:p>
            <a:pPr>
              <a:spcAft>
                <a:spcPts val="0"/>
              </a:spcAft>
            </a:pPr>
            <a:r>
              <a:rPr sz="1040" b="0" i="0">
                <a:solidFill>
                  <a:srgbClr val="222222"/>
                </a:solidFill>
                <a:latin typeface="Microsoft YaHei"/>
              </a:rPr>
              <a:t>管理员能看到费用和使用情况，超限有明确处理方式，减少无效消耗。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贡献点四｜统一统计，掌握 AI 使用情况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按模型、部门、Key 查看用量、费用和变化趋势。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41248" y="1444752"/>
            <a:ext cx="2395728" cy="786384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记录请求
每次调用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30168" y="1444752"/>
            <a:ext cx="2395728" cy="786384"/>
          </a:xfrm>
          <a:prstGeom prst="roundRect">
            <a:avLst/>
          </a:prstGeom>
          <a:solidFill>
            <a:srgbClr val="ED0016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Microsoft YaHei"/>
              </a:rPr>
              <a:t>统计汇总
按维度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19088" y="1444752"/>
            <a:ext cx="2395728" cy="786384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趋势排名
看变化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08007" y="1444752"/>
            <a:ext cx="2395728" cy="786384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300" b="1" i="0">
                <a:solidFill>
                  <a:srgbClr val="222222"/>
                </a:solidFill>
                <a:latin typeface="Microsoft YaHei"/>
              </a:rPr>
              <a:t>查看明细
查记录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2670048"/>
            <a:ext cx="4983480" cy="202996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现状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缺少模型、部门和 Key 等维度的数据，难以判断用量与费用变化。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2670048"/>
            <a:ext cx="5138928" cy="2029968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667B1"/>
                </a:solidFill>
                <a:latin typeface="Microsoft YaHei"/>
              </a:rPr>
              <a:t>实现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记录请求和费用，按模型、部门等维度统计，支持趋势、排行和明细查询。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4983480"/>
            <a:ext cx="10497312" cy="676656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作用</a:t>
            </a:r>
          </a:p>
          <a:p>
            <a:pPr>
              <a:spcAft>
                <a:spcPts val="0"/>
              </a:spcAft>
            </a:pPr>
            <a:r>
              <a:rPr sz="1130" b="0" i="0">
                <a:solidFill>
                  <a:srgbClr val="222222"/>
                </a:solidFill>
                <a:latin typeface="Microsoft YaHei"/>
              </a:rPr>
              <a:t>为选择模型、安排资源和评估费用提供清晰数据。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贡献点五｜发现风险请求，支持人工检查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对标记为 cyber_policy 的请求单独记录，方便人工检查。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68680" y="1664208"/>
            <a:ext cx="2148840" cy="74980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222222"/>
                </a:solidFill>
                <a:latin typeface="Microsoft YaHei"/>
              </a:rPr>
              <a:t>记录请求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950208" y="1481328"/>
            <a:ext cx="4023360" cy="1115568"/>
          </a:xfrm>
          <a:prstGeom prst="roundRect">
            <a:avLst/>
          </a:prstGeom>
          <a:solidFill>
            <a:srgbClr val="ED0016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Microsoft YaHei"/>
              </a:rPr>
              <a:t>cyber_policy
风险标记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87968" y="1664208"/>
            <a:ext cx="2148840" cy="749808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400" b="1" i="0">
                <a:solidFill>
                  <a:srgbClr val="222222"/>
                </a:solidFill>
                <a:latin typeface="Microsoft YaHei"/>
              </a:rPr>
              <a:t>人工检查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039112"/>
            <a:ext cx="932688" cy="0"/>
          </a:xfrm>
          <a:prstGeom prst="line">
            <a:avLst/>
          </a:prstGeom>
          <a:ln w="2540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973568" y="2039112"/>
            <a:ext cx="914400" cy="0"/>
          </a:xfrm>
          <a:prstGeom prst="line">
            <a:avLst/>
          </a:prstGeom>
          <a:ln w="2540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096512" y="2788920"/>
            <a:ext cx="370332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200" b="1" i="0">
                <a:solidFill>
                  <a:srgbClr val="ED0016"/>
                </a:solidFill>
                <a:latin typeface="Microsoft YaHei"/>
              </a:rPr>
              <a:t>先标记，再检查，最后处理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3246120"/>
            <a:ext cx="3282696" cy="1609344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现状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风险请求与普通请求混合记录，异常调用难以及时识别。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3246120"/>
            <a:ext cx="3282696" cy="1609344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667B1"/>
                </a:solidFill>
                <a:latin typeface="Microsoft YaHei"/>
              </a:rPr>
              <a:t>实现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命中 cyber_policy 的请求会被标记并计数；管理员可查看脱敏后的请求内容、账号和调用信息，人工判断是否异常。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54112" y="3246120"/>
            <a:ext cx="3282696" cy="1609344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作用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先筛出高风险调用，再决定是否处理，减少账号、额度和凭证被误用造成的损失。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5285232"/>
            <a:ext cx="10497312" cy="329184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400" b="1" i="0">
                <a:solidFill>
                  <a:srgbClr val="222222"/>
                </a:solidFill>
                <a:latin typeface="Microsoft YaHei"/>
              </a:rPr>
              <a:t>单独标记风险请求，结合人工检查降低异常调用风险。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落地｜企业 Key 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从导入 Key 到绑定人员和部门，支持查询和安全展示。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81328"/>
            <a:ext cx="4526280" cy="98755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320" b="1" i="0">
                <a:solidFill>
                  <a:srgbClr val="ED0016"/>
                </a:solidFill>
                <a:latin typeface="Microsoft YaHei"/>
              </a:rPr>
              <a:t>批量导入与预览</a:t>
            </a:r>
          </a:p>
          <a:p>
            <a:pPr>
              <a:spcAft>
                <a:spcPts val="0"/>
              </a:spcAft>
            </a:pPr>
            <a:r>
              <a:rPr sz="1060" b="0" i="0">
                <a:solidFill>
                  <a:srgbClr val="222222"/>
                </a:solidFill>
                <a:latin typeface="Microsoft YaHei"/>
              </a:rPr>
              <a:t>支持 CSV 导入和预览确认，部门、Key 和错误原因逐项展示。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2670048"/>
            <a:ext cx="4526280" cy="987552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320" b="1" i="0">
                <a:solidFill>
                  <a:srgbClr val="0667B1"/>
                </a:solidFill>
                <a:latin typeface="Microsoft YaHei"/>
              </a:rPr>
              <a:t>绑定使用人和部门</a:t>
            </a:r>
          </a:p>
          <a:p>
            <a:pPr>
              <a:spcAft>
                <a:spcPts val="0"/>
              </a:spcAft>
            </a:pPr>
            <a:r>
              <a:rPr sz="1060" b="0" i="0">
                <a:solidFill>
                  <a:srgbClr val="222222"/>
                </a:solidFill>
                <a:latin typeface="Microsoft YaHei"/>
              </a:rPr>
              <a:t>用稳定标识关联使用人、部门、来源和导入时间，不改变原有接入方式。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858768"/>
            <a:ext cx="4526280" cy="98755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320" b="1" i="0">
                <a:solidFill>
                  <a:srgbClr val="ED0016"/>
                </a:solidFill>
                <a:latin typeface="Microsoft YaHei"/>
              </a:rPr>
              <a:t>记录可查且不泄露</a:t>
            </a:r>
          </a:p>
          <a:p>
            <a:pPr>
              <a:spcAft>
                <a:spcPts val="0"/>
              </a:spcAft>
            </a:pPr>
            <a:r>
              <a:rPr sz="1060" b="0" i="0">
                <a:solidFill>
                  <a:srgbClr val="222222"/>
                </a:solidFill>
                <a:latin typeface="Microsoft YaHei"/>
              </a:rPr>
              <a:t>导入结果和历史记录可复核，页面只展示掩码、Hash 等非敏感信息。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" y="5084064"/>
            <a:ext cx="4526280" cy="896112"/>
          </a:xfrm>
          <a:prstGeom prst="rect">
            <a:avLst/>
          </a:prstGeom>
          <a:solidFill>
            <a:srgbClr val="18232D"/>
          </a:solidFill>
          <a:ln>
            <a:solidFill>
              <a:srgbClr val="18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87552" y="5175503"/>
            <a:ext cx="425196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Key 关联方式（示意）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477255"/>
            <a:ext cx="4251960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interface EnterpriseKeyBinding {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  apiKey: string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  apiKeyHash: string // 稳定标识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pic>
        <p:nvPicPr>
          <p:cNvPr id="10" name="Picture 9" descr="account-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1481328"/>
            <a:ext cx="5413248" cy="4462272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5742432" y="1481328"/>
            <a:ext cx="5413248" cy="4462272"/>
          </a:xfrm>
          <a:prstGeom prst="rect">
            <a:avLst/>
          </a:prstGeom>
          <a:noFill/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806440" y="6053328"/>
            <a:ext cx="5257800" cy="29260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080" b="1" i="0">
                <a:solidFill>
                  <a:srgbClr val="222222"/>
                </a:solidFill>
                <a:latin typeface="Microsoft YaHei"/>
              </a:rPr>
              <a:t>用稳定标识找到对应记录，原始 Key 不直接展示或用于统计。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落地｜额度管理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统一统计使用量，超过限额按规则处理，状态变更有明确依据。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71600"/>
            <a:ext cx="3282696" cy="162763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统一统计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统一统计 cost 和 Token，按日、周等时间范围查看使用情况。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453128" y="1371600"/>
            <a:ext cx="3282696" cy="1627632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667B1"/>
                </a:solidFill>
                <a:latin typeface="Microsoft YaHei"/>
              </a:rPr>
              <a:t>规则处理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支持默认限额和 Key 单独设置；超过限额后可暂停、降级或告警。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56448" y="1371600"/>
            <a:ext cx="3282696" cy="162763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异常保护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上游状态无法确认时保留当前状态并记录原因，避免误操作。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218688"/>
            <a:ext cx="5394960" cy="1005840"/>
          </a:xfrm>
          <a:prstGeom prst="rect">
            <a:avLst/>
          </a:prstGeom>
          <a:solidFill>
            <a:srgbClr val="18232D"/>
          </a:solidFill>
          <a:ln>
            <a:solidFill>
              <a:srgbClr val="18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3310128"/>
            <a:ext cx="512064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限额判断（示意）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611880"/>
            <a:ext cx="51206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nsolas"/>
              </a:rPr>
              <a:t>func (c SpendLimitConfig) LimitForKey(hash string) SpendLimit {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nsolas"/>
              </a:rPr>
              <a:t>  if l, ok := c.OverrideForKey(hash); ok { return l }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nsolas"/>
              </a:rPr>
              <a:t>  return c.Default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3383280"/>
            <a:ext cx="4142231" cy="777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50" b="1" i="0">
                <a:solidFill>
                  <a:srgbClr val="222222"/>
                </a:solidFill>
                <a:latin typeface="Microsoft YaHei"/>
              </a:rPr>
              <a:t>先查 Key 的单独设置，没有时使用默认限额，处理规则清楚可查。</a:t>
            </a:r>
          </a:p>
        </p:txBody>
      </p:sp>
      <p:pic>
        <p:nvPicPr>
          <p:cNvPr id="11" name="Picture 10" descr="quota-man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434840"/>
            <a:ext cx="5152644" cy="1920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49808" y="4434840"/>
            <a:ext cx="5152644" cy="1920240"/>
          </a:xfrm>
          <a:prstGeom prst="rect">
            <a:avLst/>
          </a:prstGeom>
          <a:noFill/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credential-quot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434840"/>
            <a:ext cx="5152644" cy="19202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86500" y="4434840"/>
            <a:ext cx="5152644" cy="1920240"/>
          </a:xfrm>
          <a:prstGeom prst="rect">
            <a:avLst/>
          </a:prstGeom>
          <a:noFill/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落地｜用量统计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保留原始记录，统计结果可重算，明细查询稳定。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1444752"/>
            <a:ext cx="4572000" cy="102412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ED0016"/>
                </a:solidFill>
                <a:latin typeface="Microsoft YaHei"/>
              </a:rPr>
              <a:t>保留原始记录</a:t>
            </a:r>
          </a:p>
          <a:p>
            <a:pPr>
              <a:spcAft>
                <a:spcPts val="0"/>
              </a:spcAft>
            </a:pPr>
            <a:r>
              <a:rPr sz="1080" b="0" i="0">
                <a:solidFill>
                  <a:srgbClr val="222222"/>
                </a:solidFill>
                <a:latin typeface="Microsoft YaHei"/>
              </a:rPr>
              <a:t>usage_events 保存每次请求记录，统计结果可以重新计算和核对。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1248" y="2761488"/>
            <a:ext cx="1353312" cy="62179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 i="0">
                <a:solidFill>
                  <a:srgbClr val="222222"/>
                </a:solidFill>
                <a:latin typeface="Microsoft YaHei"/>
              </a:rPr>
              <a:t>usage_events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41448" y="2761488"/>
            <a:ext cx="1353312" cy="62179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 i="0">
                <a:solidFill>
                  <a:srgbClr val="222222"/>
                </a:solidFill>
                <a:latin typeface="Microsoft YaHei"/>
              </a:rPr>
              <a:t>按时间汇总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041648" y="2761488"/>
            <a:ext cx="1353312" cy="621792"/>
          </a:xfrm>
          <a:prstGeom prst="roundRect">
            <a:avLst/>
          </a:prstGeom>
          <a:solidFill>
            <a:srgbClr val="F5F7F9"/>
          </a:solidFill>
          <a:ln w="1397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r>
              <a:rPr sz="1150" b="1" i="0">
                <a:solidFill>
                  <a:srgbClr val="222222"/>
                </a:solidFill>
                <a:latin typeface="Microsoft YaHei"/>
              </a:rPr>
              <a:t>明细分页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94560" y="3072384"/>
            <a:ext cx="201168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794760" y="3072384"/>
            <a:ext cx="201168" cy="0"/>
          </a:xfrm>
          <a:prstGeom prst="line">
            <a:avLst/>
          </a:prstGeom>
          <a:ln w="22860">
            <a:solidFill>
              <a:srgbClr val="0667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41248" y="3675887"/>
            <a:ext cx="4572000" cy="1078992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350" b="1" i="0">
                <a:solidFill>
                  <a:srgbClr val="0667B1"/>
                </a:solidFill>
                <a:latin typeface="Microsoft YaHei"/>
              </a:rPr>
              <a:t>快速汇总</a:t>
            </a:r>
          </a:p>
          <a:p>
            <a:pPr>
              <a:spcAft>
                <a:spcPts val="0"/>
              </a:spcAft>
            </a:pPr>
            <a:r>
              <a:rPr sz="1080" b="0" i="0">
                <a:solidFill>
                  <a:srgbClr val="222222"/>
                </a:solidFill>
                <a:latin typeface="Microsoft YaHei"/>
              </a:rPr>
              <a:t>按小时、按天和不同维度汇总；数据不完整时回到原始记录并标明情况。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1248" y="5047488"/>
            <a:ext cx="4572000" cy="896112"/>
          </a:xfrm>
          <a:prstGeom prst="rect">
            <a:avLst/>
          </a:prstGeom>
          <a:solidFill>
            <a:srgbClr val="18232D"/>
          </a:solidFill>
          <a:ln>
            <a:solidFill>
              <a:srgbClr val="18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87552" y="5138927"/>
            <a:ext cx="429768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查询条件（示意）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5440679"/>
            <a:ext cx="4297680" cy="42062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type AnalyticsQuery struct {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  Include []string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  Cursor  *Cursor</a:t>
            </a:r>
          </a:p>
          <a:p>
            <a:pPr>
              <a:spcAft>
                <a:spcPts val="0"/>
              </a:spcAft>
            </a:pPr>
            <a:r>
              <a:rPr sz="819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pic>
        <p:nvPicPr>
          <p:cNvPr id="14" name="Picture 13" descr="request-monitoring-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444752"/>
            <a:ext cx="5532120" cy="3456432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5715000" y="1444752"/>
            <a:ext cx="5532120" cy="3456432"/>
          </a:xfrm>
          <a:prstGeom prst="rect">
            <a:avLst/>
          </a:prstGeom>
          <a:noFill/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request-monitor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5047488"/>
            <a:ext cx="2578608" cy="1170432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>
          <a:xfrm>
            <a:off x="5715000" y="5047488"/>
            <a:ext cx="2578608" cy="1170432"/>
          </a:xfrm>
          <a:prstGeom prst="rect">
            <a:avLst/>
          </a:prstGeom>
          <a:noFill/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540496" y="5047488"/>
            <a:ext cx="2706624" cy="117043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260" b="1" i="0">
                <a:solidFill>
                  <a:srgbClr val="ED0016"/>
                </a:solidFill>
                <a:latin typeface="Microsoft YaHei"/>
              </a:rPr>
              <a:t>明细可追溯</a:t>
            </a:r>
          </a:p>
          <a:p>
            <a:pPr>
              <a:spcAft>
                <a:spcPts val="0"/>
              </a:spcAft>
            </a:pPr>
            <a:r>
              <a:rPr sz="1010" b="0" i="0">
                <a:solidFill>
                  <a:srgbClr val="222222"/>
                </a:solidFill>
                <a:latin typeface="Microsoft YaHei"/>
              </a:rPr>
              <a:t>按时间和编号分页，保证记录不重复、不遗漏，并返回真实总数。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落地｜风险请求标记与人工检查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通过 cyber_policy 标记风险请求，支持人工查看请求文本和调用信息。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371600"/>
            <a:ext cx="3282696" cy="162763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标记风险请求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命中 cyber_policy 的请求记录风险信号并计数，方便筛选重点请求。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453128" y="1371600"/>
            <a:ext cx="3282696" cy="1627632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0667B1"/>
                </a:solidFill>
                <a:latin typeface="Microsoft YaHei"/>
              </a:rPr>
              <a:t>人工检查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管理员查看脱敏后的用户请求内容、账号和调用信息，判断是否存在异常。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56448" y="1371600"/>
            <a:ext cx="3282696" cy="1627632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400" b="1" i="0">
                <a:solidFill>
                  <a:srgbClr val="ED0016"/>
                </a:solidFill>
                <a:latin typeface="Microsoft YaHei"/>
              </a:rPr>
              <a:t>减少资产损失</a:t>
            </a:r>
          </a:p>
          <a:p>
            <a:pPr>
              <a:spcAft>
                <a:spcPts val="0"/>
              </a:spcAft>
            </a:pPr>
            <a:r>
              <a:rPr sz="1180" b="0" i="0">
                <a:solidFill>
                  <a:srgbClr val="222222"/>
                </a:solidFill>
                <a:latin typeface="Microsoft YaHei"/>
              </a:rPr>
              <a:t>发现高风险调用后及时处理，降低账号、额度和凭证被误用的风险。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218688"/>
            <a:ext cx="5394960" cy="1005840"/>
          </a:xfrm>
          <a:prstGeom prst="rect">
            <a:avLst/>
          </a:prstGeom>
          <a:solidFill>
            <a:srgbClr val="18232D"/>
          </a:solidFill>
          <a:ln>
            <a:solidFill>
              <a:srgbClr val="1823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96112" y="3310128"/>
            <a:ext cx="5120640" cy="256032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Arial"/>
              </a:rPr>
              <a:t>风险标记（示意）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611880"/>
            <a:ext cx="512064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nsolas"/>
              </a:rPr>
              <a:t>const SecuritySignalCyberPolicy = "cyber_policy"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nsolas"/>
              </a:rPr>
              <a:t>if event.SecuritySignal == SecuritySignalCyberPolicy {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nsolas"/>
              </a:rPr>
              <a:t>  payload.SecuritySignalCount++</a:t>
            </a:r>
          </a:p>
          <a:p>
            <a:pPr>
              <a:spcAft>
                <a:spcPts val="0"/>
              </a:spcAft>
            </a:pPr>
            <a:r>
              <a:rPr sz="900" b="0" i="0">
                <a:solidFill>
                  <a:srgbClr val="FFFFFF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4808" y="3383280"/>
            <a:ext cx="4142231" cy="777240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250" b="1" i="0">
                <a:solidFill>
                  <a:srgbClr val="222222"/>
                </a:solidFill>
                <a:latin typeface="Microsoft YaHei"/>
              </a:rPr>
              <a:t>系统单独统计风险请求，管理员按标记筛选，再结合脱敏内容人工检查。</a:t>
            </a:r>
          </a:p>
        </p:txBody>
      </p:sp>
      <p:pic>
        <p:nvPicPr>
          <p:cNvPr id="11" name="Picture 10" descr="insp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" y="4434840"/>
            <a:ext cx="5152644" cy="192024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49808" y="4434840"/>
            <a:ext cx="5152644" cy="1920240"/>
          </a:xfrm>
          <a:prstGeom prst="rect">
            <a:avLst/>
          </a:prstGeom>
          <a:noFill/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nspection-poli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4434840"/>
            <a:ext cx="5152644" cy="19202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86500" y="4434840"/>
            <a:ext cx="5152644" cy="1920240"/>
          </a:xfrm>
          <a:prstGeom prst="rect">
            <a:avLst/>
          </a:prstGeom>
          <a:noFill/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01752" y="329184"/>
            <a:ext cx="11155680" cy="47548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2400" b="1" i="0">
                <a:solidFill>
                  <a:srgbClr val="666666"/>
                </a:solidFill>
                <a:latin typeface="Microsoft YaHei"/>
              </a:rPr>
              <a:t>总结｜形成企业 AI 使用管理体系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59536"/>
            <a:ext cx="10881360" cy="310896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l"/>
            <a:r>
              <a:rPr sz="1150" b="0" i="0">
                <a:solidFill>
                  <a:srgbClr val="666666"/>
                </a:solidFill>
                <a:latin typeface="Microsoft YaHei"/>
              </a:rPr>
              <a:t>统一接入，统一管理身份、额度、用量和安全。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481328"/>
            <a:ext cx="3282696" cy="157276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统一入口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不同模型通过同一个入口接入，减少重复配置。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453128" y="1481328"/>
            <a:ext cx="3282696" cy="1572768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667B1"/>
                </a:solidFill>
                <a:latin typeface="Microsoft YaHei"/>
              </a:rPr>
              <a:t>统一管理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集中管理 Key、额度和使用情况，责任清楚、费用可控。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56448" y="1481328"/>
            <a:ext cx="3282696" cy="157276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数据可查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请求、Token、费用和趋势都可查询，使用情况更清楚。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246120"/>
            <a:ext cx="3282696" cy="1572768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667B1"/>
                </a:solidFill>
                <a:latin typeface="Microsoft YaHei"/>
              </a:rPr>
              <a:t>风险可查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风险请求单独标记，支持查看脱敏内容和人工检查。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4453128" y="3246120"/>
            <a:ext cx="3282696" cy="1572768"/>
          </a:xfrm>
          <a:prstGeom prst="rect">
            <a:avLst/>
          </a:prstGeom>
          <a:solidFill>
            <a:srgbClr val="FFF0F1"/>
          </a:solidFill>
          <a:ln w="12700">
            <a:solidFill>
              <a:srgbClr val="ED00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ED0016"/>
                </a:solidFill>
                <a:latin typeface="Microsoft YaHei"/>
              </a:rPr>
              <a:t>便于维护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统计结果可以重算，已有接入保持兼容，功能便于持续维护。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156448" y="3246120"/>
            <a:ext cx="3282696" cy="1572768"/>
          </a:xfrm>
          <a:prstGeom prst="rect">
            <a:avLst/>
          </a:prstGeom>
          <a:solidFill>
            <a:srgbClr val="EEF6FC"/>
          </a:solidFill>
          <a:ln w="12700">
            <a:solidFill>
              <a:srgbClr val="0667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46304" tIns="109728" rIns="128016" bIns="73152" rtlCol="0" anchor="ctr"/>
          <a:lstStyle/>
          <a:p>
            <a:pPr algn="ctr">
              <a:spcAft>
                <a:spcPts val="600"/>
              </a:spcAft>
            </a:pPr>
            <a:r>
              <a:rPr sz="1500" b="1" i="0">
                <a:solidFill>
                  <a:srgbClr val="0667B1"/>
                </a:solidFill>
                <a:latin typeface="Microsoft YaHei"/>
              </a:rPr>
              <a:t>实际使用</a:t>
            </a:r>
          </a:p>
          <a:p>
            <a:pPr>
              <a:spcAft>
                <a:spcPts val="0"/>
              </a:spcAft>
            </a:pPr>
            <a:r>
              <a:rPr sz="1200" b="0" i="0">
                <a:solidFill>
                  <a:srgbClr val="222222"/>
                </a:solidFill>
                <a:latin typeface="Microsoft YaHei"/>
              </a:rPr>
              <a:t>平台已完成验证并推广使用，支持企业员工规范使用 AI。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257800"/>
            <a:ext cx="10241280" cy="384048"/>
          </a:xfrm>
          <a:prstGeom prst="rect">
            <a:avLst/>
          </a:prstGeom>
          <a:noFill/>
        </p:spPr>
        <p:txBody>
          <a:bodyPr wrap="square" lIns="73152" tIns="36576" rIns="73152" bIns="36576" anchor="t">
            <a:spAutoFit/>
          </a:bodyPr>
          <a:lstStyle/>
          <a:p>
            <a:pPr algn="ctr"/>
            <a:r>
              <a:rPr sz="1500" b="1" i="0">
                <a:solidFill>
                  <a:srgbClr val="222222"/>
                </a:solidFill>
                <a:latin typeface="Microsoft YaHei"/>
              </a:rPr>
              <a:t>从统一接入到统一治理，形成有记录、有规则、可追溯的 AI 使用管理链路。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6E7BD89-0FEB-419B-95E1-C56C4A1E764A}"/>
              </a:ext>
            </a:extLst>
          </p:cNvPr>
          <p:cNvSpPr txBox="1"/>
          <p:nvPr/>
        </p:nvSpPr>
        <p:spPr>
          <a:xfrm>
            <a:off x="698502" y="3021517"/>
            <a:ext cx="3835495" cy="615541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r>
              <a:rPr lang="en-US" altLang="zh-CN" sz="3200" b="1" dirty="0">
                <a:ln w="12700">
                  <a:noFill/>
                  <a:prstDash val="solid"/>
                </a:ln>
                <a:solidFill>
                  <a:srgbClr val="E4001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THANKS!</a:t>
            </a:r>
            <a:endParaRPr lang="zh-CN" altLang="en-US" sz="3200" b="1" dirty="0">
              <a:ln w="12700">
                <a:noFill/>
                <a:prstDash val="solid"/>
              </a:ln>
              <a:solidFill>
                <a:srgbClr val="E4001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7BD8FA7-CBBE-4B1B-868D-9E52CAE6FD8C}"/>
              </a:ext>
            </a:extLst>
          </p:cNvPr>
          <p:cNvSpPr txBox="1"/>
          <p:nvPr/>
        </p:nvSpPr>
        <p:spPr>
          <a:xfrm>
            <a:off x="800102" y="3690177"/>
            <a:ext cx="297625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深圳市金证科技股份有限公司</a:t>
            </a:r>
            <a:endParaRPr lang="en-US" altLang="zh-CN" sz="1400" b="1" dirty="0">
              <a:latin typeface="黑体" panose="02010609060101010101" pitchFamily="49" charset="-122"/>
              <a:ea typeface="黑体" panose="02010609060101010101" pitchFamily="49" charset="-122"/>
              <a:sym typeface="微软雅黑" panose="020B0503020204020204" pitchFamily="34" charset="-122"/>
            </a:endParaRPr>
          </a:p>
          <a:p>
            <a:endParaRPr lang="zh-CN" altLang="en-US" sz="1400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D138001-6796-4774-90B7-9289F7486BD0}"/>
              </a:ext>
            </a:extLst>
          </p:cNvPr>
          <p:cNvSpPr txBox="1"/>
          <p:nvPr/>
        </p:nvSpPr>
        <p:spPr>
          <a:xfrm>
            <a:off x="800102" y="3974122"/>
            <a:ext cx="5649546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>
              <a:lnSpc>
                <a:spcPct val="150000"/>
              </a:lnSpc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tabLst>
                <a:tab pos="107950" algn="l"/>
              </a:tabLst>
            </a:pP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深圳市南山区科技园高新南五道金证科技大楼</a:t>
            </a:r>
            <a:endParaRPr lang="en-US" altLang="zh-CN" sz="8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微软雅黑" panose="020B0503020204020204" pitchFamily="34" charset="-122"/>
            </a:endParaRPr>
          </a:p>
          <a:p>
            <a:pPr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tabLst>
                <a:tab pos="107950" algn="l"/>
              </a:tabLst>
            </a:pP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客服电话：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0755-83172999 </a:t>
            </a:r>
          </a:p>
          <a:p>
            <a:pPr fontAlgn="base">
              <a:spcBef>
                <a:spcPts val="300"/>
              </a:spcBef>
              <a:spcAft>
                <a:spcPct val="0"/>
              </a:spcAft>
              <a:buFont typeface="Arial" panose="020B0604020202020204" pitchFamily="34" charset="0"/>
              <a:tabLst>
                <a:tab pos="107950" algn="l"/>
              </a:tabLst>
            </a:pPr>
            <a:r>
              <a:rPr lang="zh-CN" alt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公司网址：</a:t>
            </a:r>
            <a:r>
              <a:rPr lang="en-US" altLang="zh-CN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sym typeface="微软雅黑" panose="020B0503020204020204" pitchFamily="34" charset="-122"/>
              </a:rPr>
              <a:t>www.szkingdom.com</a:t>
            </a:r>
            <a:endParaRPr lang="zh-CN" altLang="en-US" sz="8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pitchFamily="49" charset="-122"/>
              <a:ea typeface="黑体" panose="02010609060101010101" pitchFamily="49" charset="-122"/>
              <a:sym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31EF5FF-52B3-49DD-809A-B5B8425AC2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02" y="4911350"/>
            <a:ext cx="803650" cy="8036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73597C74-344B-4495-8C0C-E3D3F45B254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7144" y="4911350"/>
            <a:ext cx="803650" cy="80365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8869A2EF-6620-48AD-BE78-4E7CB41B780A}"/>
              </a:ext>
            </a:extLst>
          </p:cNvPr>
          <p:cNvSpPr txBox="1"/>
          <p:nvPr/>
        </p:nvSpPr>
        <p:spPr>
          <a:xfrm>
            <a:off x="884428" y="5667375"/>
            <a:ext cx="634997" cy="246209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zh-CN" altLang="en-US" sz="800" dirty="0">
                <a:ln w="12700">
                  <a:noFill/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订阅号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86BC924-AD85-4117-A83E-DEBA1ECB0F88}"/>
              </a:ext>
            </a:extLst>
          </p:cNvPr>
          <p:cNvSpPr txBox="1"/>
          <p:nvPr/>
        </p:nvSpPr>
        <p:spPr>
          <a:xfrm>
            <a:off x="1760728" y="5667375"/>
            <a:ext cx="634997" cy="246209"/>
          </a:xfrm>
          <a:prstGeom prst="rect">
            <a:avLst/>
          </a:prstGeom>
          <a:noFill/>
        </p:spPr>
        <p:txBody>
          <a:bodyPr wrap="square" lIns="121908" tIns="60954" rIns="121908" bIns="60954" rtlCol="0">
            <a:spAutoFit/>
          </a:bodyPr>
          <a:lstStyle/>
          <a:p>
            <a:pPr algn="ctr"/>
            <a:r>
              <a:rPr lang="zh-CN" altLang="en-US" sz="800" dirty="0">
                <a:ln w="12700">
                  <a:noFill/>
                  <a:prstDash val="solid"/>
                </a:ln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服务号</a:t>
            </a:r>
          </a:p>
        </p:txBody>
      </p:sp>
    </p:spTree>
    <p:extLst>
      <p:ext uri="{BB962C8B-B14F-4D97-AF65-F5344CB8AC3E}">
        <p14:creationId xmlns:p14="http://schemas.microsoft.com/office/powerpoint/2010/main" val="5013792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自定义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C0000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1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C0000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1349</TotalTime>
  <Words>960</Words>
  <Application>Microsoft Office PowerPoint</Application>
  <PresentationFormat>宽屏</PresentationFormat>
  <Paragraphs>225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4" baseType="lpstr">
      <vt:lpstr>黑体</vt:lpstr>
      <vt:lpstr>微软雅黑</vt:lpstr>
      <vt:lpstr>微软雅黑</vt:lpstr>
      <vt:lpstr>Arial</vt:lpstr>
      <vt:lpstr>Consolas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yangxun</dc:creator>
  <cp:lastModifiedBy>强辉 吴</cp:lastModifiedBy>
  <cp:revision>191</cp:revision>
  <dcterms:created xsi:type="dcterms:W3CDTF">2019-12-08T06:44:08Z</dcterms:created>
  <dcterms:modified xsi:type="dcterms:W3CDTF">2026-09-08T07:15:39Z</dcterms:modified>
</cp:coreProperties>
</file>