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85" r:id="rId4"/>
    <p:sldId id="286" r:id="rId5"/>
    <p:sldId id="292" r:id="rId6"/>
    <p:sldId id="289" r:id="rId7"/>
    <p:sldId id="291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xian zheng" initials="dz" lastIdx="1" clrIdx="0">
    <p:extLst>
      <p:ext uri="{19B8F6BF-5375-455C-9EA6-DF929625EA0E}">
        <p15:presenceInfo xmlns:p15="http://schemas.microsoft.com/office/powerpoint/2012/main" userId="54461ce54e7ef1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E51"/>
    <a:srgbClr val="CB3539"/>
    <a:srgbClr val="AB2F2F"/>
    <a:srgbClr val="E06D6A"/>
    <a:srgbClr val="C13535"/>
    <a:srgbClr val="B21E2F"/>
    <a:srgbClr val="E04C3C"/>
    <a:srgbClr val="E50012"/>
    <a:srgbClr val="D8474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74FDA-3ACD-473B-8B00-77871494B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A7A38-76A3-45CF-AA19-69A068BC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E0EE9D-9CDD-4BA5-9276-1F57E1D8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069C7-5405-43AB-86F2-AA327EEF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D8D51-1F45-4033-9A67-6DEEB282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AFD909-B49C-4F0A-8C89-0A22DFF9E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7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7A64B8-6EEC-46C1-9CDA-F4DAEAA16A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6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5BEB8-BB4E-4BB7-B6D0-E1D5AF6A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ABB50-913D-4E27-BF9D-14066AAE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04129-084D-4967-B589-011C3B3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6BB94-497B-4480-A53A-858D2D57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01B42-DA26-4ACB-8E89-103F569F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8EE18F-6F38-443D-919D-BD100AEF0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4F7D9AB-329E-453D-8B9C-D963369A894C}"/>
              </a:ext>
            </a:extLst>
          </p:cNvPr>
          <p:cNvSpPr/>
          <p:nvPr userDrawn="1"/>
        </p:nvSpPr>
        <p:spPr>
          <a:xfrm>
            <a:off x="0" y="377825"/>
            <a:ext cx="266700" cy="341402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719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41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8B40-1EAC-434B-BCCA-210B23FA8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AAE93E-90E3-4B57-AA14-5CE0D387B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7" name="内容占位符 26">
            <a:extLst>
              <a:ext uri="{FF2B5EF4-FFF2-40B4-BE49-F238E27FC236}">
                <a16:creationId xmlns:a16="http://schemas.microsoft.com/office/drawing/2014/main" id="{C4CC267F-9E25-42E7-9E83-10DDC63292B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525" cy="686435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5DC50D-AF18-46BA-9D74-A95F77B06549}"/>
              </a:ext>
            </a:extLst>
          </p:cNvPr>
          <p:cNvGrpSpPr/>
          <p:nvPr/>
        </p:nvGrpSpPr>
        <p:grpSpPr>
          <a:xfrm>
            <a:off x="469234" y="2230828"/>
            <a:ext cx="7961061" cy="4240326"/>
            <a:chOff x="469234" y="2286291"/>
            <a:chExt cx="6687744" cy="356211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4A8456B-A874-4BD1-8270-48C1919FA4B7}"/>
                </a:ext>
              </a:extLst>
            </p:cNvPr>
            <p:cNvSpPr txBox="1"/>
            <p:nvPr/>
          </p:nvSpPr>
          <p:spPr>
            <a:xfrm>
              <a:off x="469234" y="2286291"/>
              <a:ext cx="6667130" cy="646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金码奖 </a:t>
              </a:r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申报陈述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D93C87F-D2F9-423F-9C40-E0BD9574CC77}"/>
                </a:ext>
              </a:extLst>
            </p:cNvPr>
            <p:cNvSpPr txBox="1"/>
            <p:nvPr/>
          </p:nvSpPr>
          <p:spPr>
            <a:xfrm>
              <a:off x="489848" y="2987005"/>
              <a:ext cx="6667130" cy="439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CLIProxyAPI 企业级 AI 网关建设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F8321F-1572-4E24-9052-323FAFA8F766}"/>
                </a:ext>
              </a:extLst>
            </p:cNvPr>
            <p:cNvSpPr txBox="1"/>
            <p:nvPr/>
          </p:nvSpPr>
          <p:spPr>
            <a:xfrm>
              <a:off x="518639" y="3601844"/>
              <a:ext cx="6045693" cy="258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申报人</a:t>
              </a:r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吴强辉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391DCF-417A-46DA-B2BA-3BACAE696F06}"/>
                </a:ext>
              </a:extLst>
            </p:cNvPr>
            <p:cNvSpPr txBox="1"/>
            <p:nvPr/>
          </p:nvSpPr>
          <p:spPr>
            <a:xfrm>
              <a:off x="562814" y="5600468"/>
              <a:ext cx="2066660" cy="247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www.szkingdom.com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EBACB86-D64E-47EF-B7AE-5145E1FA0EB9}"/>
                </a:ext>
              </a:extLst>
            </p:cNvPr>
            <p:cNvSpPr txBox="1"/>
            <p:nvPr/>
          </p:nvSpPr>
          <p:spPr>
            <a:xfrm>
              <a:off x="562814" y="5338227"/>
              <a:ext cx="4049111" cy="304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科技赋能金融 数字创造价值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79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76">
            <a:extLst>
              <a:ext uri="{FF2B5EF4-FFF2-40B4-BE49-F238E27FC236}">
                <a16:creationId xmlns:a16="http://schemas.microsoft.com/office/drawing/2014/main" id="{54FEF2AD-D0DC-4821-A844-6FD2A42F652C}"/>
              </a:ext>
            </a:extLst>
          </p:cNvPr>
          <p:cNvSpPr txBox="1"/>
          <p:nvPr/>
        </p:nvSpPr>
        <p:spPr>
          <a:xfrm>
            <a:off x="3198009" y="2417870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个人概况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896E95-9A8E-40A0-A8B9-AC9425D10B6B}"/>
              </a:ext>
            </a:extLst>
          </p:cNvPr>
          <p:cNvSpPr txBox="1"/>
          <p:nvPr/>
        </p:nvSpPr>
        <p:spPr>
          <a:xfrm>
            <a:off x="455109" y="289461"/>
            <a:ext cx="2116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E4001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zh-CN" altLang="en-US" sz="2800" b="1" dirty="0">
                <a:solidFill>
                  <a:srgbClr val="DA25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122EB9-22E6-47E4-A515-A255FA5E6C8D}"/>
              </a:ext>
            </a:extLst>
          </p:cNvPr>
          <p:cNvSpPr/>
          <p:nvPr/>
        </p:nvSpPr>
        <p:spPr>
          <a:xfrm>
            <a:off x="2345186" y="2255409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500154FB-68BA-4A35-A02F-603E7E940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121" y="2312559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01</a:t>
            </a:r>
          </a:p>
        </p:txBody>
      </p:sp>
      <p:sp>
        <p:nvSpPr>
          <p:cNvPr id="30" name="TextBox 76">
            <a:extLst>
              <a:ext uri="{FF2B5EF4-FFF2-40B4-BE49-F238E27FC236}">
                <a16:creationId xmlns:a16="http://schemas.microsoft.com/office/drawing/2014/main" id="{BD68FA33-BF40-41A8-BA88-8C85CDBF35BD}"/>
              </a:ext>
            </a:extLst>
          </p:cNvPr>
          <p:cNvSpPr txBox="1"/>
          <p:nvPr/>
        </p:nvSpPr>
        <p:spPr>
          <a:xfrm>
            <a:off x="7511390" y="2398372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申报亮点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AA5FEF-A733-4942-9721-763C4DB2067A}"/>
              </a:ext>
            </a:extLst>
          </p:cNvPr>
          <p:cNvSpPr/>
          <p:nvPr/>
        </p:nvSpPr>
        <p:spPr>
          <a:xfrm>
            <a:off x="6658568" y="2260756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28F13BC-5A26-4607-AE90-24464C4B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3" y="2317906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TextBox 76">
            <a:extLst>
              <a:ext uri="{FF2B5EF4-FFF2-40B4-BE49-F238E27FC236}">
                <a16:creationId xmlns:a16="http://schemas.microsoft.com/office/drawing/2014/main" id="{21196FB2-B0FC-4024-9B17-484D992A1A66}"/>
              </a:ext>
            </a:extLst>
          </p:cNvPr>
          <p:cNvSpPr txBox="1"/>
          <p:nvPr/>
        </p:nvSpPr>
        <p:spPr>
          <a:xfrm>
            <a:off x="3205283" y="3543811"/>
            <a:ext cx="3683737" cy="584775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Microsoft YaHei"/>
              </a:rPr>
              <a:t>设计模式
与代码举证</a:t>
            </a:r>
            <a:endParaRPr lang="en-US" altLang="zh-CN" sz="18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0F7FD6-3061-400B-BA24-34AA0BF02801}"/>
              </a:ext>
            </a:extLst>
          </p:cNvPr>
          <p:cNvSpPr/>
          <p:nvPr/>
        </p:nvSpPr>
        <p:spPr>
          <a:xfrm>
            <a:off x="2352459" y="338267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178AD962-C4B7-40A5-92F8-E16BD5ED7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394" y="343982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03</a:t>
            </a:r>
          </a:p>
        </p:txBody>
      </p:sp>
      <p:sp>
        <p:nvSpPr>
          <p:cNvPr id="15" name="TextBox 76">
            <a:extLst>
              <a:ext uri="{FF2B5EF4-FFF2-40B4-BE49-F238E27FC236}">
                <a16:creationId xmlns:a16="http://schemas.microsoft.com/office/drawing/2014/main" id="{37AA7CF3-C445-4552-B2E9-4A72FB6E4FA1}"/>
              </a:ext>
            </a:extLst>
          </p:cNvPr>
          <p:cNvSpPr txBox="1"/>
          <p:nvPr/>
        </p:nvSpPr>
        <p:spPr>
          <a:xfrm>
            <a:off x="7511390" y="3600961"/>
            <a:ext cx="3683737" cy="369332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总结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38C3F5-DFA4-436A-9223-48F8899DA68A}"/>
              </a:ext>
            </a:extLst>
          </p:cNvPr>
          <p:cNvSpPr/>
          <p:nvPr/>
        </p:nvSpPr>
        <p:spPr>
          <a:xfrm>
            <a:off x="6658566" y="343982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8FF04122-FC7B-40E3-A864-17AF94700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1" y="349697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 smtClean="0">
                <a:solidFill>
                  <a:schemeClr val="bg1"/>
                </a:solidFill>
                <a:ea typeface="微软雅黑" panose="020B0503020204020204" charset="-122"/>
              </a:rPr>
              <a:t>04</a:t>
            </a:r>
            <a:endParaRPr lang="en-US" altLang="zh-CN" sz="3200" dirty="0">
              <a:solidFill>
                <a:schemeClr val="bg1"/>
              </a:solidFill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79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68BBEC-AEE3-47EE-A988-E9DDB3F71ADA}"/>
              </a:ext>
            </a:extLst>
          </p:cNvPr>
          <p:cNvSpPr txBox="1"/>
          <p:nvPr/>
        </p:nvSpPr>
        <p:spPr>
          <a:xfrm>
            <a:off x="299996" y="325000"/>
            <a:ext cx="883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自我介绍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1015458" y="1284063"/>
            <a:ext cx="10671020" cy="4023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just" defTabSz="6858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lang="zh-CN" altLang="en-US" sz="2400" kern="1200" baseline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361950" indent="-361950" algn="just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姓名：吴强辉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</a:endParaRPr>
          </a:p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所在部门：研发中心四部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</a:endParaRPr>
          </a:p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当前职级：P2｜C++开发工程师</a:t>
            </a:r>
          </a:p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所属模块：AI 网关管理中心</a:t>
            </a:r>
          </a:p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代码仓库：CLIProxyAPI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</a:endParaRPr>
          </a:p>
          <a:p>
            <a:pPr algn="l" defTabSz="457200">
              <a:lnSpc>
                <a:spcPct val="20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Ø"/>
              <a:defRPr sz="1800"/>
            </a:pPr>
            <a:r>
              <a:rPr sz="2000" b="0" i="0">
                <a:solidFill>
                  <a:srgbClr val="222222"/>
                </a:solidFill>
                <a:latin typeface="Microsoft YaHei"/>
              </a:rPr>
              <a:t>交付状态：已完成运行验证</a:t>
            </a:r>
            <a:endParaRPr lang="en-US" altLang="zh-CN" sz="18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743700" y="1371600"/>
            <a:ext cx="3571875" cy="428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900" b="0" i="0">
                <a:solidFill>
                  <a:srgbClr val="222222"/>
                </a:solidFill>
                <a:latin typeface="Microsoft YaHei"/>
              </a:rPr>
              <a:t>个人近期照
（正面、清晰）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3119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68BBEC-AEE3-47EE-A988-E9DDB3F71ADA}"/>
              </a:ext>
            </a:extLst>
          </p:cNvPr>
          <p:cNvSpPr txBox="1"/>
          <p:nvPr/>
        </p:nvSpPr>
        <p:spPr>
          <a:xfrm>
            <a:off x="299996" y="325000"/>
            <a:ext cx="883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申报亮点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628073" y="1257357"/>
            <a:ext cx="10815782" cy="5178277"/>
          </a:xfrm>
        </p:spPr>
        <p:txBody>
          <a:bodyPr wrap="square" lIns="146304" rIns="109728" tIns="73152" bIns="36576">
            <a:normAutofit fontScale="62500" lnSpcReduction="20000"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zh-CN" sz="1800" i="1" dirty="0" smtClean="0">
              <a:latin typeface="思源黑体"/>
              <a:ea typeface="微软雅黑" panose="020B0503020204020204" pitchFamily="34" charset="-122"/>
            </a:endParaRP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算法与数据结构：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以 usage_events 保留原始事实，Rollup 作为可重建加速层；Analytics 按 Tab 按需返回，明细采用 keyset 分页。</a:t>
            </a: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架构与设计模式：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保持 CLIProxyAPI 统一接入，Management Center 负责企业治理，Usage Service 负责采集、聚合与协调；插件通过宿主认证和路径白名单隔离。</a:t>
            </a: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业务实现质量：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企业 Key 支持导入预览、冲突处理和历史追踪；额度治理区分度量、规则、动作与恢复；上游状态不确定时保持现状。</a:t>
            </a: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价值：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将分散的 Key、额度、用量与审计能力形成统一管理闭环，支撑企业化运维和可验证交付。</a:t>
            </a: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创新性：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将 AI 用于跨文件检索、需求拆解、风险识别与测试生成，结合工程师复核形成增量交付流程。</a:t>
            </a:r>
          </a:p>
          <a:p>
            <a:pPr algn="l">
              <a:spcAft>
                <a:spcPts val="200"/>
              </a:spcAft>
            </a:pPr>
            <a:r>
              <a:rPr sz="1230" b="1" i="0">
                <a:solidFill>
                  <a:srgbClr val="222222"/>
                </a:solidFill>
                <a:latin typeface="Microsoft YaHei"/>
              </a:rPr>
              <a:t>规范性：</a:t>
            </a:r>
            <a:r>
              <a:rPr sz="1230" b="0" i="0">
                <a:solidFill>
                  <a:srgbClr val="222222"/>
                </a:solidFill>
                <a:latin typeface="Microsoft YaHei"/>
              </a:rPr>
              <a:t>遵循现有服务边界，原始数据可重建、明细数据脱敏，测试覆盖异常、权限、并发、构建与运行场景。</a:t>
            </a:r>
          </a:p>
        </p:txBody>
      </p:sp>
    </p:spTree>
    <p:extLst>
      <p:ext uri="{BB962C8B-B14F-4D97-AF65-F5344CB8AC3E}">
        <p14:creationId xmlns:p14="http://schemas.microsoft.com/office/powerpoint/2010/main" val="102863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68BBEC-AEE3-47EE-A988-E9DDB3F71ADA}"/>
              </a:ext>
            </a:extLst>
          </p:cNvPr>
          <p:cNvSpPr txBox="1"/>
          <p:nvPr/>
        </p:nvSpPr>
        <p:spPr>
          <a:xfrm>
            <a:off x="299996" y="325000"/>
            <a:ext cx="883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设计模式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39905" y="1329369"/>
            <a:ext cx="10372165" cy="1204625"/>
          </a:xfrm>
          <a:prstGeom prst="rect">
            <a:avLst/>
          </a:prstGeom>
          <a:solidFill>
            <a:srgbClr val="F5F7F9"/>
          </a:solidFill>
          <a:ln w="15240">
            <a:solidFill>
              <a:srgbClr val="ED0016"/>
            </a:solidFill>
          </a:ln>
        </p:spPr>
        <p:txBody>
          <a:bodyPr wrap="square" lIns="73152" rIns="73152" tIns="36576" bIns="36576">
            <a:spAutoFit/>
          </a:bodyPr>
          <a:lstStyle/>
          <a:p>
            <a:pPr marL="571500" indent="-571500" algn="ctr">
              <a:lnSpc>
                <a:spcPct val="18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sz="1900" b="1" i="0">
                <a:solidFill>
                  <a:srgbClr val="222222"/>
                </a:solidFill>
                <a:latin typeface="Microsoft YaHei"/>
              </a:rPr>
              <a:t>设计思想：边界清晰、能力解耦、事实可重建、扩展可控</a:t>
            </a:r>
            <a:endParaRPr lang="en-US" altLang="zh-CN" sz="1900" b="1" i="1" dirty="0" smtClean="0">
              <a:latin typeface="思源黑体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43000" y="2011680"/>
            <a:ext cx="1508760" cy="621792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客户端 /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011680"/>
            <a:ext cx="1600200" cy="621792"/>
          </a:xfrm>
          <a:prstGeom prst="roundRect">
            <a:avLst/>
          </a:prstGeom>
          <a:solidFill>
            <a:srgbClr val="ED0016"/>
          </a:solidFill>
          <a:ln w="1524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CLIProxyAPI
统一接入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1920240" cy="621792"/>
          </a:xfrm>
          <a:prstGeom prst="roundRect">
            <a:avLst/>
          </a:prstGeom>
          <a:solidFill>
            <a:srgbClr val="0667B1"/>
          </a:solidFill>
          <a:ln w="1524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Management Center
企业治理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072384"/>
            <a:ext cx="1920240" cy="621792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Usage Service
采集 · 聚合 · 协调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1828800" cy="621792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插件 / 审计
受控扩展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322576"/>
            <a:ext cx="411480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322576"/>
            <a:ext cx="457200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2633472"/>
            <a:ext cx="0" cy="438912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2322576"/>
            <a:ext cx="594360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43000" y="4005072"/>
            <a:ext cx="315468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</a:rPr>
              <a:t>AI 辅助方式
检索调用链、归纳差异、生成候选方案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4005072"/>
            <a:ext cx="315468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</a:rPr>
              <a:t>工程判断
确定边界、兼容策略、失败语义与验收标准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005072"/>
            <a:ext cx="2606040" cy="594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Microsoft YaHei"/>
              </a:rPr>
              <a:t>交付原则
增量实现、可测试、可回溯、可发布</a:t>
            </a:r>
          </a:p>
        </p:txBody>
      </p:sp>
    </p:spTree>
    <p:extLst>
      <p:ext uri="{BB962C8B-B14F-4D97-AF65-F5344CB8AC3E}">
        <p14:creationId xmlns:p14="http://schemas.microsoft.com/office/powerpoint/2010/main" val="283175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68BBEC-AEE3-47EE-A988-E9DDB3F71ADA}"/>
              </a:ext>
            </a:extLst>
          </p:cNvPr>
          <p:cNvSpPr txBox="1"/>
          <p:nvPr/>
        </p:nvSpPr>
        <p:spPr>
          <a:xfrm>
            <a:off x="299996" y="325000"/>
            <a:ext cx="883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代码举证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9905" y="1329369"/>
            <a:ext cx="10372165" cy="1927707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txBody>
          <a:bodyPr wrap="square">
            <a:spAutoFit/>
          </a:bodyPr>
          <a:lstStyle/>
          <a:p>
            <a:pPr marL="571500" lvl="0" indent="-571500">
              <a:lnSpc>
                <a:spcPct val="180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</a:p>
        </p:txBody>
      </p:sp>
      <p:sp>
        <p:nvSpPr>
          <p:cNvPr id="6" name="Rectangle 5"/>
          <p:cNvSpPr/>
          <p:nvPr/>
        </p:nvSpPr>
        <p:spPr>
          <a:xfrm>
            <a:off x="1188720" y="1435608"/>
            <a:ext cx="4663440" cy="182880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5024" y="1527048"/>
            <a:ext cx="4370831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举证 1｜企业 Key 领域模型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1828800"/>
            <a:ext cx="438912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interface EnterpriseKeyIdentity {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apiKeyHash: string;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userName: string;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departmentId?: string;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source: string;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importedAt: string;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435608"/>
            <a:ext cx="4663440" cy="182880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527048"/>
            <a:ext cx="4370831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举证 2｜额度规则分层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828800"/>
            <a:ext cx="438912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func (c SpendLimitConfig) LimitForKey(hash string) SpendLimit {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if limit, ok := c.OverrideForKey(hash); ok {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  return limit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  return c.DefaultLimit()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466344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22222"/>
                </a:solidFill>
                <a:latin typeface="Microsoft YaHei"/>
              </a:rPr>
              <a:t>身份模型以 apiKeyHash 建立稳定关联；页面只展示非秘密元数据，原始凭证与展示数据分层管理。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611880"/>
            <a:ext cx="4663440" cy="7132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222222"/>
                </a:solidFill>
                <a:latin typeface="Microsoft YaHei"/>
              </a:rPr>
              <a:t>Key override 优先于默认限额；费用计算、动作执行和失败请求排除分别验证，避免治理规则隐式耦合。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96012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Microsoft YaHei"/>
              </a:rPr>
              <a:t>代码来源：Management Center 企业 Key / Usage Service spend-limit；完整实现、测试与边界说明纳入交付材料。</a:t>
            </a:r>
          </a:p>
        </p:txBody>
      </p:sp>
    </p:spTree>
    <p:extLst>
      <p:ext uri="{BB962C8B-B14F-4D97-AF65-F5344CB8AC3E}">
        <p14:creationId xmlns:p14="http://schemas.microsoft.com/office/powerpoint/2010/main" val="3876077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68BBEC-AEE3-47EE-A988-E9DDB3F71ADA}"/>
              </a:ext>
            </a:extLst>
          </p:cNvPr>
          <p:cNvSpPr txBox="1"/>
          <p:nvPr/>
        </p:nvSpPr>
        <p:spPr>
          <a:xfrm>
            <a:off x="299996" y="325000"/>
            <a:ext cx="8831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7C369D-EB75-4FBE-AF6A-50E30D1CE102}"/>
              </a:ext>
            </a:extLst>
          </p:cNvPr>
          <p:cNvSpPr txBox="1"/>
          <p:nvPr/>
        </p:nvSpPr>
        <p:spPr>
          <a:xfrm>
            <a:off x="1162513" y="1750283"/>
            <a:ext cx="9531507" cy="565539"/>
          </a:xfrm>
          <a:prstGeom prst="rect">
            <a:avLst/>
          </a:prstGeom>
          <a:noFill/>
        </p:spPr>
        <p:txBody>
          <a:bodyPr wrap="square" lIns="228600" rIns="182880" tIns="73152" bIns="36576">
            <a:spAutoFit/>
          </a:bodyPr>
          <a:lstStyle/>
          <a:p>
            <a:pPr lvl="0">
              <a:lnSpc>
                <a:spcPct val="180000"/>
              </a:lnSpc>
              <a:spcBef>
                <a:spcPts val="1000"/>
              </a:spcBef>
              <a:spcAft>
                <a:spcPts val="0"/>
              </a:spcAft>
            </a:pP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22222"/>
                </a:solidFill>
                <a:latin typeface="Microsoft YaHei"/>
              </a:rPr>
              <a:t>建设成果：</a:t>
            </a:r>
            <a:r>
              <a:rPr sz="1800" b="0" i="0">
                <a:solidFill>
                  <a:srgbClr val="222222"/>
                </a:solidFill>
                <a:latin typeface="Microsoft YaHei"/>
              </a:rPr>
              <a:t>在 CLIProxyAPI 统一接入基础上，形成覆盖企业身份、额度治理、用量分析、安全审计与工程交付的管理能力。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22222"/>
                </a:solidFill>
                <a:latin typeface="Microsoft YaHei"/>
              </a:rPr>
              <a:t>方法沉淀：</a:t>
            </a:r>
            <a:r>
              <a:rPr sz="1800" b="0" i="0">
                <a:solidFill>
                  <a:srgbClr val="222222"/>
                </a:solidFill>
                <a:latin typeface="Microsoft YaHei"/>
              </a:rPr>
              <a:t>以需求拆解、依赖排序、边界验证和发布门禁构建 AI 辅助开发闭环；AI 负责检索与候选生成，工程师负责取舍与验收。</a:t>
            </a:r>
          </a:p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22222"/>
                </a:solidFill>
                <a:latin typeface="Microsoft YaHei"/>
              </a:rPr>
              <a:t>复用价值：</a:t>
            </a:r>
            <a:r>
              <a:rPr sz="1800" b="0" i="0">
                <a:solidFill>
                  <a:srgbClr val="222222"/>
                </a:solidFill>
                <a:latin typeface="Microsoft YaHei"/>
              </a:rPr>
              <a:t>保留上游兼容能力，新增模块可独立演进、可重建、可验证，为企业级 AI 应用治理提供可复用基础。</a:t>
            </a:r>
          </a:p>
        </p:txBody>
      </p:sp>
    </p:spTree>
    <p:extLst>
      <p:ext uri="{BB962C8B-B14F-4D97-AF65-F5344CB8AC3E}">
        <p14:creationId xmlns:p14="http://schemas.microsoft.com/office/powerpoint/2010/main" val="300328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E7BD89-0FEB-419B-95E1-C56C4A1E764A}"/>
              </a:ext>
            </a:extLst>
          </p:cNvPr>
          <p:cNvSpPr txBox="1"/>
          <p:nvPr/>
        </p:nvSpPr>
        <p:spPr>
          <a:xfrm>
            <a:off x="698502" y="3021517"/>
            <a:ext cx="3835495" cy="615541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en-US" altLang="zh-CN" sz="3200" b="1" dirty="0">
                <a:ln w="12700">
                  <a:noFill/>
                  <a:prstDash val="solid"/>
                </a:ln>
                <a:solidFill>
                  <a:srgbClr val="E400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3200" b="1" dirty="0">
              <a:ln w="12700">
                <a:noFill/>
                <a:prstDash val="solid"/>
              </a:ln>
              <a:solidFill>
                <a:srgbClr val="E400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D8FA7-CBBE-4B1B-868D-9E52CAE6FD8C}"/>
              </a:ext>
            </a:extLst>
          </p:cNvPr>
          <p:cNvSpPr txBox="1"/>
          <p:nvPr/>
        </p:nvSpPr>
        <p:spPr>
          <a:xfrm>
            <a:off x="800102" y="3690177"/>
            <a:ext cx="297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深圳市金证科技股份有限公司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138001-6796-4774-90B7-9289F7486BD0}"/>
              </a:ext>
            </a:extLst>
          </p:cNvPr>
          <p:cNvSpPr txBox="1"/>
          <p:nvPr/>
        </p:nvSpPr>
        <p:spPr>
          <a:xfrm>
            <a:off x="800102" y="3974122"/>
            <a:ext cx="56495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深圳市南山区科技园高新南五道金证科技大楼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客服电话：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0755-83172999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公司网址：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www.szkingdom.com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1EF5FF-52B3-49DD-809A-B5B8425AC2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2" y="4911350"/>
            <a:ext cx="803650" cy="803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3597C74-344B-4495-8C0C-E3D3F45B2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44" y="4911350"/>
            <a:ext cx="803650" cy="8036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869A2EF-6620-48AD-BE78-4E7CB41B780A}"/>
              </a:ext>
            </a:extLst>
          </p:cNvPr>
          <p:cNvSpPr txBox="1"/>
          <p:nvPr/>
        </p:nvSpPr>
        <p:spPr>
          <a:xfrm>
            <a:off x="8844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订阅号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6BC924-AD85-4117-A83E-DEBA1ECB0F88}"/>
              </a:ext>
            </a:extLst>
          </p:cNvPr>
          <p:cNvSpPr txBox="1"/>
          <p:nvPr/>
        </p:nvSpPr>
        <p:spPr>
          <a:xfrm>
            <a:off x="17607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服务号</a:t>
            </a:r>
          </a:p>
        </p:txBody>
      </p:sp>
    </p:spTree>
    <p:extLst>
      <p:ext uri="{BB962C8B-B14F-4D97-AF65-F5344CB8AC3E}">
        <p14:creationId xmlns:p14="http://schemas.microsoft.com/office/powerpoint/2010/main" val="50137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C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C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</TotalTime>
  <Words>685</Words>
  <Application>Microsoft Office PowerPoint</Application>
  <PresentationFormat>宽屏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Roboto Bold</vt:lpstr>
      <vt:lpstr>等线</vt:lpstr>
      <vt:lpstr>等线 Light</vt:lpstr>
      <vt:lpstr>黑体</vt:lpstr>
      <vt:lpstr>思源黑体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yangxun</dc:creator>
  <cp:lastModifiedBy>lyrinlin</cp:lastModifiedBy>
  <cp:revision>190</cp:revision>
  <dcterms:created xsi:type="dcterms:W3CDTF">2019-12-08T06:44:08Z</dcterms:created>
  <dcterms:modified xsi:type="dcterms:W3CDTF">2026-07-15T09:24:03Z</dcterms:modified>
</cp:coreProperties>
</file>